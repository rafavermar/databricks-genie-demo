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Presentar la demo y recordar que todos los datos son sintéticos.</a:t>
            </a:r>
          </a:p>
          <a:p>
            <a:r>
              <a:t>Transición: Comencemos por el reto que resuelve.</a:t>
            </a:r>
          </a:p>
          <a:p>
            <a:r>
              <a:t>Duración aproximada: 0:45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El problema no es solo acceder a datos, sino compartir definiciones.</a:t>
            </a:r>
          </a:p>
          <a:p>
            <a:r>
              <a:t>Transición: La propuesta combina gobierno, BI y conversación.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Un único patrón sirve a operaciones, dirección y equipo de datos.</a:t>
            </a:r>
          </a:p>
          <a:p>
            <a:r>
              <a:t>Transición: Veamos cómo se conectan sus componentes.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La misma definición gobernada alimenta dashboard y conversación.</a:t>
            </a:r>
          </a:p>
          <a:p>
            <a:r>
              <a:t>Transición: Pasemos de la arquitectura al modelo de datos.</a:t>
            </a:r>
          </a:p>
          <a:p>
            <a:r>
              <a:t>Duración aproximada: 1:15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El KPI diario concentra la semántica necesaria para consumo seguro.</a:t>
            </a:r>
          </a:p>
          <a:p>
            <a:r>
              <a:t>Transición: Sobre ese modelo se definen métricas gobernadas.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Las reglas evitan que dashboard y Genie respondan con lógicas distintas.</a:t>
            </a:r>
          </a:p>
          <a:p>
            <a:r>
              <a:t>Transición: Apliquemos esas métricas a una vista ejecutiva.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Mostrar el dashboard real corregido y explicar las dos series y los filtros.</a:t>
            </a:r>
          </a:p>
          <a:p>
            <a:r>
              <a:t>Transición: La misma capa sirve a una conversación en lenguaje natural.</a:t>
            </a:r>
          </a:p>
          <a:p>
            <a:r>
              <a:t>Duración aproximada: 1:45</a:t>
            </a:r>
          </a:p>
          <a:p>
            <a:r>
              <a:t>Demostración: Abrir el dashboard real, filtrar el mes adverso y bajar a región.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Genie acelera la exploración sin abandonar las definiciones acordadas.</a:t>
            </a:r>
          </a:p>
          <a:p>
            <a:r>
              <a:t>Transición: Convirtamos la conversación en un guion repetible.</a:t>
            </a:r>
          </a:p>
          <a:p>
            <a:r>
              <a:t>Duración aproximada: 1:15</a:t>
            </a:r>
          </a:p>
          <a:p>
            <a:r>
              <a:t>Demostración: Ejecutar pregunta inicial y follow-up de instalación e incidencias.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El guion evita una sucesión de pantallas y mantiene una narrativa de decisión.</a:t>
            </a:r>
          </a:p>
          <a:p>
            <a:r>
              <a:t>Transición: Ahora resumamos el impacto esperado.</a:t>
            </a:r>
          </a:p>
          <a:p>
            <a:r>
              <a:t>Duración aproximada: 0:50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Hablar de resultados esperables, no de ahorros garantizados.</a:t>
            </a:r>
          </a:p>
          <a:p>
            <a:r>
              <a:t>Transición: La confianza depende de controles técnicos visibles.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La demo incluye evidencia técnica, no solo visualizaciones.</a:t>
            </a:r>
          </a:p>
          <a:p>
            <a:r>
              <a:t>Transición: Cerramos con el camino de industrialización.</a:t>
            </a:r>
          </a:p>
          <a:p>
            <a:r>
              <a:t>Duración aproximada: 1:00</a:t>
            </a:r>
          </a:p>
          <a:p>
            <a:r>
              <a:t>Demostración: Mostrar el run y el informe de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La demo prueba el patrón; industrializar requiere gobierno y medición continua.</a:t>
            </a:r>
          </a:p>
          <a:p>
            <a:r>
              <a:t>Transición: Abrir preguntas.</a:t>
            </a:r>
          </a:p>
          <a:p>
            <a:r>
              <a:t>Duración aproximada: 0:55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804672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B2533"/>
                </a:solidFill>
                <a:latin typeface="Aptos"/>
              </a:rPr>
              <a:t>Renewable Operations
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743200"/>
            <a:ext cx="7772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6B7785"/>
                </a:solidFill>
                <a:latin typeface="Aptos"/>
              </a:rPr>
              <a:t>De datos operativos a decisiones en lenguaje natural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456432"/>
            <a:ext cx="5303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Demo Databricks Free Edition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89720" y="1143000"/>
            <a:ext cx="2057400" cy="32004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82912" y="2651760"/>
            <a:ext cx="274320" cy="1234440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0" y="2011680"/>
            <a:ext cx="274320" cy="1874519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33888" y="1417319"/>
            <a:ext cx="274320" cy="246888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Reto de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5257800" cy="16459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71600"/>
            <a:ext cx="73152" cy="16459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481328"/>
            <a:ext cx="4937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Información fragmentada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874519"/>
            <a:ext cx="49377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Fuentes operativas aisladas y sin una lectura común.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57800" cy="16459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73152" cy="16459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481328"/>
            <a:ext cx="4937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KPIs inconsistentes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874519"/>
            <a:ext cx="49377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La misma métrica puede calcularse de formas distintas.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29000"/>
            <a:ext cx="5257800" cy="16459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29000"/>
            <a:ext cx="73152" cy="16459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538728"/>
            <a:ext cx="4937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Análisis manual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931920"/>
            <a:ext cx="49377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Demasiado tiempo preparando consultas y reconciliando resultados.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429000"/>
            <a:ext cx="5257800" cy="16459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429000"/>
            <a:ext cx="73152" cy="16459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538728"/>
            <a:ext cx="4937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Respuesta lenta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931920"/>
            <a:ext cx="49377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Las desviaciones tardan en convertirse en una conversación accionable.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Propuesta de valor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98448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371600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4831" y="1371600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Plataforma gobernada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13432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1" y="2313432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Semantic layer reutilizable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82112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255264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4831" y="3255264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Dashboard ejecutivo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23944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197096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1" y="4197096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Análisis conversacional con Genie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065776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5138928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1" y="5138928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Despliegue como código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 flujo gobernado desde datos sintéticos hasta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Datos
sintéticos</a:t>
            </a:r>
          </a:p>
        </p:txBody>
      </p:sp>
      <p:sp>
        <p:nvSpPr>
          <p:cNvPr id="9" name="Chevron 8"/>
          <p:cNvSpPr/>
          <p:nvPr/>
        </p:nvSpPr>
        <p:spPr>
          <a:xfrm>
            <a:off x="1956816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76272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9424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Tablas
Delta</a:t>
            </a:r>
          </a:p>
        </p:txBody>
      </p:sp>
      <p:sp>
        <p:nvSpPr>
          <p:cNvPr id="12" name="Chevron 11"/>
          <p:cNvSpPr/>
          <p:nvPr/>
        </p:nvSpPr>
        <p:spPr>
          <a:xfrm>
            <a:off x="3630168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9624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Proceso
serverless</a:t>
            </a:r>
          </a:p>
        </p:txBody>
      </p:sp>
      <p:sp>
        <p:nvSpPr>
          <p:cNvPr id="15" name="Chevron 14"/>
          <p:cNvSpPr/>
          <p:nvPr/>
        </p:nvSpPr>
        <p:spPr>
          <a:xfrm>
            <a:off x="5303520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22976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96128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Metric View /
semantic view</a:t>
            </a:r>
          </a:p>
        </p:txBody>
      </p:sp>
      <p:sp>
        <p:nvSpPr>
          <p:cNvPr id="18" name="Chevron 17"/>
          <p:cNvSpPr/>
          <p:nvPr/>
        </p:nvSpPr>
        <p:spPr>
          <a:xfrm>
            <a:off x="6976872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96328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AI/BI
Dashboard</a:t>
            </a:r>
          </a:p>
        </p:txBody>
      </p:sp>
      <p:sp>
        <p:nvSpPr>
          <p:cNvPr id="21" name="Chevron 20"/>
          <p:cNvSpPr/>
          <p:nvPr/>
        </p:nvSpPr>
        <p:spPr>
          <a:xfrm>
            <a:off x="8650224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69680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42832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Genie</a:t>
            </a:r>
          </a:p>
        </p:txBody>
      </p:sp>
      <p:sp>
        <p:nvSpPr>
          <p:cNvPr id="24" name="Chevron 23"/>
          <p:cNvSpPr/>
          <p:nvPr/>
        </p:nvSpPr>
        <p:spPr>
          <a:xfrm>
            <a:off x="10323576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543032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Usuarios
de negocio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429768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A972"/>
                </a:solidFill>
                <a:latin typeface="Aptos"/>
              </a:rPr>
              <a:t>Unity Catalog · definiciones reutilizables · infraestructura como código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Modelo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5120640" cy="14630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63040"/>
            <a:ext cx="73152" cy="14630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72768"/>
            <a:ext cx="4800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Assets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965960"/>
            <a:ext cx="48006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10 instalaciones
capacidad · región · tecnología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463040"/>
            <a:ext cx="5120640" cy="14630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463040"/>
            <a:ext cx="73152" cy="14630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1572768"/>
            <a:ext cx="4800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Daily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1965960"/>
            <a:ext cx="48006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5.460 observaciones
real · prevista · disponibilidad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31920"/>
            <a:ext cx="5120640" cy="14630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931920"/>
            <a:ext cx="73152" cy="14630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4041648"/>
            <a:ext cx="4800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Incidents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434840"/>
            <a:ext cx="48006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15 incidencias
severidad · downtime · estado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931920"/>
            <a:ext cx="5120640" cy="14630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931920"/>
            <a:ext cx="73152" cy="14630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6248" y="4041648"/>
            <a:ext cx="4800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Daily KPIs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6248" y="4434840"/>
            <a:ext cx="48006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variance · factor capacidad
coste/MWh · CO2 evitado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06440" y="2194560"/>
            <a:ext cx="502920" cy="0"/>
          </a:xfrm>
          <a:prstGeom prst="line">
            <a:avLst/>
          </a:prstGeom>
          <a:ln w="19050">
            <a:solidFill>
              <a:srgbClr val="6B77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915400" y="2926080"/>
            <a:ext cx="0" cy="960120"/>
          </a:xfrm>
          <a:prstGeom prst="line">
            <a:avLst/>
          </a:prstGeom>
          <a:ln w="19050">
            <a:solidFill>
              <a:srgbClr val="6B77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06440" y="4663440"/>
            <a:ext cx="502920" cy="0"/>
          </a:xfrm>
          <a:prstGeom prst="line">
            <a:avLst/>
          </a:prstGeom>
          <a:ln w="19050">
            <a:solidFill>
              <a:srgbClr val="6B77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Métricas gobernadas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Generación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12140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166420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Previsión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12140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46304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66420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Desviación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12140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Real - prevista · negativa = desfavorable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59" y="146304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19" y="166420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Disponibilidad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5751" y="212140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016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Factor de capacidad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08736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39" y="342900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99" y="363016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Coste por MWh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1" y="408736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EUR / generación real · cero → NULL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42900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63016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CO2 evitado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408736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532120"/>
            <a:ext cx="5669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0A972"/>
                </a:solidFill>
                <a:latin typeface="Aptos"/>
              </a:rPr>
              <a:t>Calendario natural · periodo siempre explícito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Dashboard ejecutivo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Captura real del dashboard AI/BI publicado · paleta validada en tema oscuro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6080760"/>
            <a:ext cx="106527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Pantalla real · ambas series y barras visibles · filtros globales activos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Conversación con Genie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Captura real del agente desplegado · fuente semántica gobernada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6080760"/>
            <a:ext cx="1065276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0A972"/>
                </a:solidFill>
                <a:latin typeface="Aptos"/>
              </a:rPr>
              <a:t>Fuente autorizada: workspace.renewable_operations_demo.gg_renewable_operations_metrics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Guion de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2103120"/>
            <a:ext cx="658368" cy="658368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Detectar
desviación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64208" y="2432304"/>
            <a:ext cx="1243583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907791" y="2103120"/>
            <a:ext cx="658368" cy="658368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4872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Analizar
región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2432304"/>
            <a:ext cx="1243584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809744" y="2103120"/>
            <a:ext cx="658368" cy="658368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9472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6824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Bajar a
instalación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68112" y="2432304"/>
            <a:ext cx="1243584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711696" y="2103120"/>
            <a:ext cx="658368" cy="658368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1424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Relacionar
incidencias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70064" y="2432304"/>
            <a:ext cx="1243584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613648" y="2103120"/>
            <a:ext cx="658368" cy="658368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3376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8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Preguntar en
lenguaje natural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72016" y="2432304"/>
            <a:ext cx="1243584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0515600" y="2103120"/>
            <a:ext cx="658368" cy="658368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5328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Convertir en
acción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800600"/>
            <a:ext cx="8046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A972"/>
                </a:solidFill>
                <a:latin typeface="Aptos"/>
              </a:rPr>
              <a:t>Una historia de 12-15 minutos: del síntoma a una decisión trazable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Valor para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73152" cy="16916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48132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Menor tiempo hasta el 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874519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37160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371600"/>
            <a:ext cx="73152" cy="16916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48132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Autoservicio guiado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874519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37160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371600"/>
            <a:ext cx="73152" cy="16916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48132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Coherencia métrica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1874519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61188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11880"/>
            <a:ext cx="73152" cy="16916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372160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Trazabilidad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4114800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61188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3611880"/>
            <a:ext cx="73152" cy="16916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372160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Menor carga de consultas repetitivas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4114800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61188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3611880"/>
            <a:ext cx="73152" cy="16916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372160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Patrón escalable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4114800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Controles y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80160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38988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Infraestructura como código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783080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Bundle validable y reproducible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38988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1783080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19 tests · 90,7 % cobertura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34639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834639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94436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Data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337559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Claves, rangos, conteos y coherencia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34639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834639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294436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Idempotencia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3337559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Segunda ejecución sin duplicados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389120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389120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49884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Unity Catalog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892040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Namespace aislado y comentado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89120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389120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7" y="449884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Aislamiento Genie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4892040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Solo semantic layer autorizada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806440"/>
            <a:ext cx="9875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B2533"/>
                </a:solidFill>
                <a:latin typeface="Aptos"/>
              </a:rPr>
              <a:t>Contrato desplegado: 10 assets · 5,460 días-activo · 15 incidencias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Próximos pasos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234440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Incorporar datos corporativos gobernados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84248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84248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Separar entornos y permisos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734056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Añadir dominios y acuerdos de calidad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83864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483864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Validar seguridad de extremo a extremo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33672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33672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Medir adopción y calidad de respuestas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83479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983479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Industrializar CI/CD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1417320"/>
            <a:ext cx="1965960" cy="32918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173736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B2533"/>
                </a:solidFill>
                <a:latin typeface="Aptos"/>
              </a:rPr>
              <a:t>Estado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242316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0A972"/>
                </a:solidFill>
                <a:latin typeface="Aptos"/>
              </a:rPr>
              <a:t>Despliegue remoto
validado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3429000"/>
            <a:ext cx="1371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B7785"/>
                </a:solidFill>
                <a:latin typeface="Aptos"/>
              </a:rPr>
              <a:t>Dos ejecuciones
idempotentes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