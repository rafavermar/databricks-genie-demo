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Presentar la demo y recordar que todos los datos son sintéticos.</a:t>
            </a:r>
          </a:p>
          <a:p>
            <a:r>
              <a:t>Transición: Comencemos por el reto que resuelve.</a:t>
            </a:r>
          </a:p>
          <a:p>
            <a:r>
              <a:t>Duración aproximada: 0:45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El problema no es solo acceder a datos, sino compartir definiciones.</a:t>
            </a:r>
          </a:p>
          <a:p>
            <a:r>
              <a:t>Transición: La propuesta combina gobierno, BI y conversación.</a:t>
            </a:r>
          </a:p>
          <a:p>
            <a:r>
              <a:t>Duración aproximada: 1:00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Un único patrón sirve a operaciones, dirección y equipo de datos.</a:t>
            </a:r>
          </a:p>
          <a:p>
            <a:r>
              <a:t>Transición: Veamos cómo se conectan sus componentes.</a:t>
            </a:r>
          </a:p>
          <a:p>
            <a:r>
              <a:t>Duración aproximada: 1:00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La misma definición gobernada alimenta dashboard y conversación.</a:t>
            </a:r>
          </a:p>
          <a:p>
            <a:r>
              <a:t>Transición: Pasemos de la arquitectura al modelo de datos.</a:t>
            </a:r>
          </a:p>
          <a:p>
            <a:r>
              <a:t>Duración aproximada: 1:15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El KPI diario concentra la semántica necesaria para consumo seguro.</a:t>
            </a:r>
          </a:p>
          <a:p>
            <a:r>
              <a:t>Transición: Sobre ese modelo se definen métricas gobernadas.</a:t>
            </a:r>
          </a:p>
          <a:p>
            <a:r>
              <a:t>Duración aproximada: 1:00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Las reglas evitan que dashboard y Genie respondan con lógicas distintas.</a:t>
            </a:r>
          </a:p>
          <a:p>
            <a:r>
              <a:t>Transición: Apliquemos esas métricas a una vista ejecutiva.</a:t>
            </a:r>
          </a:p>
          <a:p>
            <a:r>
              <a:t>Duración aproximada: 1:00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Mostrar un resumen real del dataset validado sin inventar cifras.</a:t>
            </a:r>
          </a:p>
          <a:p>
            <a:r>
              <a:t>Transición: La misma capa sirve a una conversación en lenguaje natural.</a:t>
            </a:r>
          </a:p>
          <a:p>
            <a:r>
              <a:t>Duración aproximada: 1:45</a:t>
            </a:r>
          </a:p>
          <a:p>
            <a:r>
              <a:t>Demostración: Abrir el dashboard real, filtrar el mes adverso y bajar a región.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Genie acelera la exploración sin abandonar las definiciones acordadas.</a:t>
            </a:r>
          </a:p>
          <a:p>
            <a:r>
              <a:t>Transición: Convirtamos la conversación en un guion repetible.</a:t>
            </a:r>
          </a:p>
          <a:p>
            <a:r>
              <a:t>Duración aproximada: 1:15</a:t>
            </a:r>
          </a:p>
          <a:p>
            <a:r>
              <a:t>Demostración: Ejecutar pregunta inicial y follow-up de instalación e incidencias.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El guion evita una sucesión de pantallas y mantiene una narrativa de decisión.</a:t>
            </a:r>
          </a:p>
          <a:p>
            <a:r>
              <a:t>Transición: Ahora resumamos el impacto esperado.</a:t>
            </a:r>
          </a:p>
          <a:p>
            <a:r>
              <a:t>Duración aproximada: 0:50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Hablar de resultados esperables, no de ahorros garantizados.</a:t>
            </a:r>
          </a:p>
          <a:p>
            <a:r>
              <a:t>Transición: La confianza depende de controles técnicos visibles.</a:t>
            </a:r>
          </a:p>
          <a:p>
            <a:r>
              <a:t>Duración aproximada: 1:00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La demo incluye evidencia técnica, no solo visualizaciones.</a:t>
            </a:r>
          </a:p>
          <a:p>
            <a:r>
              <a:t>Transición: Cerramos con el camino de industrialización.</a:t>
            </a:r>
          </a:p>
          <a:p>
            <a:r>
              <a:t>Duración aproximada: 1:00</a:t>
            </a:r>
          </a:p>
          <a:p>
            <a:r>
              <a:t>Demostración: Mostrar el run y el informe de calidad.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La demo prueba el patrón; industrializar requiere gobierno y medición continua.</a:t>
            </a:r>
          </a:p>
          <a:p>
            <a:r>
              <a:t>Transición: Abrir preguntas.</a:t>
            </a:r>
          </a:p>
          <a:p>
            <a:r>
              <a:t>Duración aproximada: 0:55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804672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B2533"/>
                </a:solidFill>
                <a:latin typeface="Aptos"/>
              </a:rPr>
              <a:t>Renewable Operations
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743200"/>
            <a:ext cx="7772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6B7785"/>
                </a:solidFill>
                <a:latin typeface="Aptos"/>
              </a:rPr>
              <a:t>De datos operativos a decisiones en lenguaje natural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3456432"/>
            <a:ext cx="5303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3621"/>
                </a:solidFill>
                <a:latin typeface="Aptos"/>
              </a:rPr>
              <a:t>Demo Databricks Free Edition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89720" y="1143000"/>
            <a:ext cx="2057400" cy="320040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582912" y="2651760"/>
            <a:ext cx="274320" cy="1234440"/>
          </a:xfrm>
          <a:prstGeom prst="rect">
            <a:avLst/>
          </a:prstGeom>
          <a:solidFill>
            <a:srgbClr val="1B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058400" y="2011680"/>
            <a:ext cx="274320" cy="1874519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33888" y="1417319"/>
            <a:ext cx="274320" cy="246888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sintéticos | Demo Databricks Free Edition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Reto de negocio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sintéticos | Demo Databricks Free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5257800" cy="16459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71600"/>
            <a:ext cx="73152" cy="164592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481328"/>
            <a:ext cx="49377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Información fragmentada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874519"/>
            <a:ext cx="493776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Fuentes operativas aisladas y sin una lectura común.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57800" cy="16459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371600"/>
            <a:ext cx="73152" cy="164592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481328"/>
            <a:ext cx="49377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KPIs inconsistentes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874519"/>
            <a:ext cx="493776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La misma métrica puede calcularse de formas distintas.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29000"/>
            <a:ext cx="5257800" cy="16459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429000"/>
            <a:ext cx="73152" cy="164592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538728"/>
            <a:ext cx="49377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Análisis manual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931920"/>
            <a:ext cx="493776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Demasiado tiempo preparando consultas y reconciliando resultados.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429000"/>
            <a:ext cx="5257800" cy="16459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429000"/>
            <a:ext cx="73152" cy="164592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3538728"/>
            <a:ext cx="49377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Respuesta lenta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931920"/>
            <a:ext cx="493776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Las desviaciones tardan en convertirse en una conversación accionable.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Propuesta de valor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sintéticos | Demo Databricks Free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298448"/>
            <a:ext cx="10058400" cy="7132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371600"/>
            <a:ext cx="594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3621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84831" y="1371600"/>
            <a:ext cx="7909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B2533"/>
                </a:solidFill>
                <a:latin typeface="Aptos"/>
              </a:rPr>
              <a:t>Plataforma gobernada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240280"/>
            <a:ext cx="10058400" cy="7132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313432"/>
            <a:ext cx="594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3621"/>
                </a:solidFill>
                <a:latin typeface="Apto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84831" y="2313432"/>
            <a:ext cx="7909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B2533"/>
                </a:solidFill>
                <a:latin typeface="Aptos"/>
              </a:rPr>
              <a:t>Semantic layer reutilizable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182112"/>
            <a:ext cx="10058400" cy="7132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3255264"/>
            <a:ext cx="594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3621"/>
                </a:solidFill>
                <a:latin typeface="Apto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84831" y="3255264"/>
            <a:ext cx="7909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B2533"/>
                </a:solidFill>
                <a:latin typeface="Aptos"/>
              </a:rPr>
              <a:t>Dashboard ejecutivo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23944"/>
            <a:ext cx="10058400" cy="7132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4197096"/>
            <a:ext cx="594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3621"/>
                </a:solidFill>
                <a:latin typeface="Aptos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84831" y="4197096"/>
            <a:ext cx="7909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B2533"/>
                </a:solidFill>
                <a:latin typeface="Aptos"/>
              </a:rPr>
              <a:t>Análisis conversacional con Genie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065776"/>
            <a:ext cx="10058400" cy="7132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5138928"/>
            <a:ext cx="594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3621"/>
                </a:solidFill>
                <a:latin typeface="Aptos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4831" y="5138928"/>
            <a:ext cx="7909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B2533"/>
                </a:solidFill>
                <a:latin typeface="Aptos"/>
              </a:rPr>
              <a:t>Despliegue como código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Arquitectura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Un flujo gobernado desde datos sintéticos hasta decisiones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sintéticos | Demo Databricks Free Edition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23160"/>
            <a:ext cx="14173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2578608"/>
            <a:ext cx="1271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Datos
sintéticos</a:t>
            </a:r>
          </a:p>
        </p:txBody>
      </p:sp>
      <p:sp>
        <p:nvSpPr>
          <p:cNvPr id="9" name="Chevron 8"/>
          <p:cNvSpPr/>
          <p:nvPr/>
        </p:nvSpPr>
        <p:spPr>
          <a:xfrm>
            <a:off x="1956816" y="2834640"/>
            <a:ext cx="182880" cy="384048"/>
          </a:xfrm>
          <a:prstGeom prst="chevron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76272" y="2423160"/>
            <a:ext cx="14173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49424" y="2578608"/>
            <a:ext cx="1271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Tablas
Delta</a:t>
            </a:r>
          </a:p>
        </p:txBody>
      </p:sp>
      <p:sp>
        <p:nvSpPr>
          <p:cNvPr id="12" name="Chevron 11"/>
          <p:cNvSpPr/>
          <p:nvPr/>
        </p:nvSpPr>
        <p:spPr>
          <a:xfrm>
            <a:off x="3630168" y="2834640"/>
            <a:ext cx="182880" cy="384048"/>
          </a:xfrm>
          <a:prstGeom prst="chevron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9624" y="2423160"/>
            <a:ext cx="14173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22776" y="2578608"/>
            <a:ext cx="1271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Proceso
serverless</a:t>
            </a:r>
          </a:p>
        </p:txBody>
      </p:sp>
      <p:sp>
        <p:nvSpPr>
          <p:cNvPr id="15" name="Chevron 14"/>
          <p:cNvSpPr/>
          <p:nvPr/>
        </p:nvSpPr>
        <p:spPr>
          <a:xfrm>
            <a:off x="5303520" y="2834640"/>
            <a:ext cx="182880" cy="384048"/>
          </a:xfrm>
          <a:prstGeom prst="chevron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22976" y="2423160"/>
            <a:ext cx="14173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96128" y="2578608"/>
            <a:ext cx="1271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Metric View /
semantic view</a:t>
            </a:r>
          </a:p>
        </p:txBody>
      </p:sp>
      <p:sp>
        <p:nvSpPr>
          <p:cNvPr id="18" name="Chevron 17"/>
          <p:cNvSpPr/>
          <p:nvPr/>
        </p:nvSpPr>
        <p:spPr>
          <a:xfrm>
            <a:off x="6976872" y="2834640"/>
            <a:ext cx="182880" cy="384048"/>
          </a:xfrm>
          <a:prstGeom prst="chevron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96328" y="2423160"/>
            <a:ext cx="14173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2578608"/>
            <a:ext cx="1271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AI/BI
Dashboard</a:t>
            </a:r>
          </a:p>
        </p:txBody>
      </p:sp>
      <p:sp>
        <p:nvSpPr>
          <p:cNvPr id="21" name="Chevron 20"/>
          <p:cNvSpPr/>
          <p:nvPr/>
        </p:nvSpPr>
        <p:spPr>
          <a:xfrm>
            <a:off x="8650224" y="2834640"/>
            <a:ext cx="182880" cy="384048"/>
          </a:xfrm>
          <a:prstGeom prst="chevron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869680" y="2423160"/>
            <a:ext cx="14173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42832" y="2578608"/>
            <a:ext cx="1271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Genie</a:t>
            </a:r>
          </a:p>
        </p:txBody>
      </p:sp>
      <p:sp>
        <p:nvSpPr>
          <p:cNvPr id="24" name="Chevron 23"/>
          <p:cNvSpPr/>
          <p:nvPr/>
        </p:nvSpPr>
        <p:spPr>
          <a:xfrm>
            <a:off x="10323576" y="2834640"/>
            <a:ext cx="182880" cy="384048"/>
          </a:xfrm>
          <a:prstGeom prst="chevron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543032" y="2423160"/>
            <a:ext cx="14173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16184" y="2578608"/>
            <a:ext cx="1271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Usuarios
de negocio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5960" y="429768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0A972"/>
                </a:solidFill>
                <a:latin typeface="Aptos"/>
              </a:rPr>
              <a:t>Unity Catalog · definiciones reutilizables · infraestructura como código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Modelo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sintéticos | Demo Databricks Free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5120640" cy="14630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463040"/>
            <a:ext cx="73152" cy="146304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572768"/>
            <a:ext cx="4800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Assets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965960"/>
            <a:ext cx="480060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10 instalaciones
capacidad · región · tecnología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463040"/>
            <a:ext cx="5120640" cy="14630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463040"/>
            <a:ext cx="73152" cy="146304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6248" y="1572768"/>
            <a:ext cx="4800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Daily generation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6248" y="1965960"/>
            <a:ext cx="480060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5.460 observaciones
real · prevista · disponibilidad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931920"/>
            <a:ext cx="5120640" cy="14630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931920"/>
            <a:ext cx="73152" cy="146304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4041648"/>
            <a:ext cx="4800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Incidents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434840"/>
            <a:ext cx="480060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15 incidencias
severidad · downtime · estado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3931920"/>
            <a:ext cx="5120640" cy="14630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931920"/>
            <a:ext cx="73152" cy="146304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56248" y="4041648"/>
            <a:ext cx="4800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Daily KPIs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6248" y="4434840"/>
            <a:ext cx="480060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variance · factor capacidad
coste/MWh · CO2 evitado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806440" y="2194560"/>
            <a:ext cx="502920" cy="0"/>
          </a:xfrm>
          <a:prstGeom prst="line">
            <a:avLst/>
          </a:prstGeom>
          <a:ln w="19050">
            <a:solidFill>
              <a:srgbClr val="6B77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915400" y="2926080"/>
            <a:ext cx="0" cy="960120"/>
          </a:xfrm>
          <a:prstGeom prst="line">
            <a:avLst/>
          </a:prstGeom>
          <a:ln w="19050">
            <a:solidFill>
              <a:srgbClr val="6B77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806440" y="4663440"/>
            <a:ext cx="502920" cy="0"/>
          </a:xfrm>
          <a:prstGeom prst="line">
            <a:avLst/>
          </a:prstGeom>
          <a:ln w="19050">
            <a:solidFill>
              <a:srgbClr val="6B77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Métricas gobernadas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sintéticos | Demo Databricks Free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2606040" cy="14173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64208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B2533"/>
                </a:solidFill>
                <a:latin typeface="Aptos"/>
              </a:rPr>
              <a:t>Generación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2121408"/>
            <a:ext cx="2286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Definición única · unidad visible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39" y="1463040"/>
            <a:ext cx="2606040" cy="14173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99" y="1664208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B2533"/>
                </a:solidFill>
                <a:latin typeface="Aptos"/>
              </a:rPr>
              <a:t>Previsión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1" y="2121408"/>
            <a:ext cx="2286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Definición única · unidad visible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463040"/>
            <a:ext cx="2606040" cy="14173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664208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B2533"/>
                </a:solidFill>
                <a:latin typeface="Aptos"/>
              </a:rPr>
              <a:t>Desviación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2121408"/>
            <a:ext cx="2286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Real - prevista · negativa = desfavorable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59" y="1463040"/>
            <a:ext cx="2606040" cy="14173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19" y="1664208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B2533"/>
                </a:solidFill>
                <a:latin typeface="Aptos"/>
              </a:rPr>
              <a:t>Disponibilidad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5751" y="2121408"/>
            <a:ext cx="2286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Definición única · unidad visible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29000"/>
            <a:ext cx="2606040" cy="14173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30168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B2533"/>
                </a:solidFill>
                <a:latin typeface="Aptos"/>
              </a:rPr>
              <a:t>Factor de capacidad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4087368"/>
            <a:ext cx="2286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Definición única · unidad visible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20439" y="3429000"/>
            <a:ext cx="2606040" cy="14173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599" y="3630168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B2533"/>
                </a:solidFill>
                <a:latin typeface="Aptos"/>
              </a:rPr>
              <a:t>Coste por MWh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5031" y="4087368"/>
            <a:ext cx="2286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EUR / generación real · cero → NULL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3429000"/>
            <a:ext cx="2606040" cy="14173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3630168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B2533"/>
                </a:solidFill>
                <a:latin typeface="Aptos"/>
              </a:rPr>
              <a:t>CO2 evitado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5392" y="4087368"/>
            <a:ext cx="22860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Definición única · unidad visible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532120"/>
            <a:ext cx="56692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00A972"/>
                </a:solidFill>
                <a:latin typeface="Aptos"/>
              </a:rPr>
              <a:t>Calendario natural · periodo siempre explícito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Dashboard ejecutivo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Resultados del despliegue remoto validados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sintéticos | Demo Databricks Free Edition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234440"/>
            <a:ext cx="2560320" cy="13258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389888"/>
            <a:ext cx="2286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Generación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719072"/>
            <a:ext cx="2286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00A972"/>
                </a:solidFill>
                <a:latin typeface="Aptos"/>
              </a:rPr>
              <a:t>3.80 M MWh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234440"/>
            <a:ext cx="2560320" cy="13258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79" y="1389888"/>
            <a:ext cx="2286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Desviación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79" y="1719072"/>
            <a:ext cx="2286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FF3621"/>
                </a:solidFill>
                <a:latin typeface="Aptos"/>
              </a:rPr>
              <a:t>-57.9 k MWh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234440"/>
            <a:ext cx="2560320" cy="13258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389888"/>
            <a:ext cx="2286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Disponibilidad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719072"/>
            <a:ext cx="2286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1B2533"/>
                </a:solidFill>
                <a:latin typeface="Aptos"/>
              </a:rPr>
              <a:t>96.8 %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59" y="1234440"/>
            <a:ext cx="2560320" cy="13258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19" y="1389888"/>
            <a:ext cx="2286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CO2 evitado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19" y="1719072"/>
            <a:ext cx="2286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00A972"/>
                </a:solidFill>
                <a:latin typeface="Aptos"/>
              </a:rPr>
              <a:t>1254.3 kt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953512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533"/>
                </a:solidFill>
                <a:latin typeface="Aptos"/>
              </a:rPr>
              <a:t>Real frente a prevista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8680" y="5641848"/>
            <a:ext cx="6766560" cy="0"/>
          </a:xfrm>
          <a:prstGeom prst="line">
            <a:avLst/>
          </a:prstGeom>
          <a:ln>
            <a:solidFill>
              <a:srgbClr val="D9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68680" y="4670545"/>
            <a:ext cx="398032" cy="570440"/>
          </a:xfrm>
          <a:prstGeom prst="line">
            <a:avLst/>
          </a:prstGeom>
          <a:ln w="2540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266712" y="4361825"/>
            <a:ext cx="398033" cy="879160"/>
          </a:xfrm>
          <a:prstGeom prst="line">
            <a:avLst/>
          </a:prstGeom>
          <a:ln w="2540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664745" y="4028978"/>
            <a:ext cx="398033" cy="332847"/>
          </a:xfrm>
          <a:prstGeom prst="line">
            <a:avLst/>
          </a:prstGeom>
          <a:ln w="2540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2062778" y="3584250"/>
            <a:ext cx="398033" cy="444728"/>
          </a:xfrm>
          <a:prstGeom prst="line">
            <a:avLst/>
          </a:prstGeom>
          <a:ln w="2540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460811" y="3584250"/>
            <a:ext cx="398033" cy="393155"/>
          </a:xfrm>
          <a:prstGeom prst="line">
            <a:avLst/>
          </a:prstGeom>
          <a:ln w="2540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858844" y="3977405"/>
            <a:ext cx="398033" cy="279593"/>
          </a:xfrm>
          <a:prstGeom prst="line">
            <a:avLst/>
          </a:prstGeom>
          <a:ln w="2540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256877" y="4256998"/>
            <a:ext cx="398033" cy="381174"/>
          </a:xfrm>
          <a:prstGeom prst="line">
            <a:avLst/>
          </a:prstGeom>
          <a:ln w="2540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654910" y="4638172"/>
            <a:ext cx="398033" cy="238724"/>
          </a:xfrm>
          <a:prstGeom prst="line">
            <a:avLst/>
          </a:prstGeom>
          <a:ln w="2540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052943" y="4349864"/>
            <a:ext cx="398033" cy="527032"/>
          </a:xfrm>
          <a:prstGeom prst="line">
            <a:avLst/>
          </a:prstGeom>
          <a:ln w="2540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450976" y="4349864"/>
            <a:ext cx="398033" cy="1291984"/>
          </a:xfrm>
          <a:prstGeom prst="line">
            <a:avLst/>
          </a:prstGeom>
          <a:ln w="2540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849009" y="4368914"/>
            <a:ext cx="398033" cy="1272934"/>
          </a:xfrm>
          <a:prstGeom prst="line">
            <a:avLst/>
          </a:prstGeom>
          <a:ln w="2540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247042" y="4368914"/>
            <a:ext cx="398033" cy="276646"/>
          </a:xfrm>
          <a:prstGeom prst="line">
            <a:avLst/>
          </a:prstGeom>
          <a:ln w="2540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645075" y="4645560"/>
            <a:ext cx="398033" cy="606310"/>
          </a:xfrm>
          <a:prstGeom prst="line">
            <a:avLst/>
          </a:prstGeom>
          <a:ln w="2540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6043108" y="4380241"/>
            <a:ext cx="398033" cy="871629"/>
          </a:xfrm>
          <a:prstGeom prst="line">
            <a:avLst/>
          </a:prstGeom>
          <a:ln w="2540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441141" y="4032795"/>
            <a:ext cx="398033" cy="347446"/>
          </a:xfrm>
          <a:prstGeom prst="line">
            <a:avLst/>
          </a:prstGeom>
          <a:ln w="2540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6839174" y="3558024"/>
            <a:ext cx="398033" cy="474771"/>
          </a:xfrm>
          <a:prstGeom prst="line">
            <a:avLst/>
          </a:prstGeom>
          <a:ln w="2540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237207" y="3558024"/>
            <a:ext cx="398033" cy="410028"/>
          </a:xfrm>
          <a:prstGeom prst="line">
            <a:avLst/>
          </a:prstGeom>
          <a:ln w="2540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68680" y="4646970"/>
            <a:ext cx="398032" cy="581275"/>
          </a:xfrm>
          <a:prstGeom prst="line">
            <a:avLst/>
          </a:prstGeom>
          <a:ln w="25400">
            <a:solidFill>
              <a:srgbClr val="1B25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266712" y="4346401"/>
            <a:ext cx="398033" cy="881844"/>
          </a:xfrm>
          <a:prstGeom prst="line">
            <a:avLst/>
          </a:prstGeom>
          <a:ln w="25400">
            <a:solidFill>
              <a:srgbClr val="1B25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664745" y="4023157"/>
            <a:ext cx="398033" cy="323244"/>
          </a:xfrm>
          <a:prstGeom prst="line">
            <a:avLst/>
          </a:prstGeom>
          <a:ln w="25400">
            <a:solidFill>
              <a:srgbClr val="1B25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062778" y="3547189"/>
            <a:ext cx="398033" cy="475968"/>
          </a:xfrm>
          <a:prstGeom prst="line">
            <a:avLst/>
          </a:prstGeom>
          <a:ln w="25400">
            <a:solidFill>
              <a:srgbClr val="1B25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460811" y="3547189"/>
            <a:ext cx="398033" cy="401219"/>
          </a:xfrm>
          <a:prstGeom prst="line">
            <a:avLst/>
          </a:prstGeom>
          <a:ln w="25400">
            <a:solidFill>
              <a:srgbClr val="1B25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858844" y="3948408"/>
            <a:ext cx="398033" cy="283332"/>
          </a:xfrm>
          <a:prstGeom prst="line">
            <a:avLst/>
          </a:prstGeom>
          <a:ln w="25400">
            <a:solidFill>
              <a:srgbClr val="1B25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256877" y="4231740"/>
            <a:ext cx="398033" cy="393609"/>
          </a:xfrm>
          <a:prstGeom prst="line">
            <a:avLst/>
          </a:prstGeom>
          <a:ln w="25400">
            <a:solidFill>
              <a:srgbClr val="1B25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654910" y="4625349"/>
            <a:ext cx="398033" cy="171383"/>
          </a:xfrm>
          <a:prstGeom prst="line">
            <a:avLst/>
          </a:prstGeom>
          <a:ln w="25400">
            <a:solidFill>
              <a:srgbClr val="1B25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052943" y="4355425"/>
            <a:ext cx="398033" cy="441307"/>
          </a:xfrm>
          <a:prstGeom prst="line">
            <a:avLst/>
          </a:prstGeom>
          <a:ln w="25400">
            <a:solidFill>
              <a:srgbClr val="1B25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450976" y="4355425"/>
            <a:ext cx="398033" cy="43039"/>
          </a:xfrm>
          <a:prstGeom prst="line">
            <a:avLst/>
          </a:prstGeom>
          <a:ln w="25400">
            <a:solidFill>
              <a:srgbClr val="1B25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4849009" y="4346843"/>
            <a:ext cx="398033" cy="51621"/>
          </a:xfrm>
          <a:prstGeom prst="line">
            <a:avLst/>
          </a:prstGeom>
          <a:ln w="25400">
            <a:solidFill>
              <a:srgbClr val="1B25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5247042" y="4346843"/>
            <a:ext cx="398033" cy="291667"/>
          </a:xfrm>
          <a:prstGeom prst="line">
            <a:avLst/>
          </a:prstGeom>
          <a:ln w="25400">
            <a:solidFill>
              <a:srgbClr val="1B25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645075" y="4638510"/>
            <a:ext cx="398033" cy="594572"/>
          </a:xfrm>
          <a:prstGeom prst="line">
            <a:avLst/>
          </a:prstGeom>
          <a:ln w="25400">
            <a:solidFill>
              <a:srgbClr val="1B25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6043108" y="4356195"/>
            <a:ext cx="398033" cy="876887"/>
          </a:xfrm>
          <a:prstGeom prst="line">
            <a:avLst/>
          </a:prstGeom>
          <a:ln w="25400">
            <a:solidFill>
              <a:srgbClr val="1B25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6441141" y="4038289"/>
            <a:ext cx="398033" cy="317906"/>
          </a:xfrm>
          <a:prstGeom prst="line">
            <a:avLst/>
          </a:prstGeom>
          <a:ln w="25400">
            <a:solidFill>
              <a:srgbClr val="1B25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6839174" y="3538727"/>
            <a:ext cx="398033" cy="499562"/>
          </a:xfrm>
          <a:prstGeom prst="line">
            <a:avLst/>
          </a:prstGeom>
          <a:ln w="25400">
            <a:solidFill>
              <a:srgbClr val="1B25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237207" y="3538727"/>
            <a:ext cx="398033" cy="401894"/>
          </a:xfrm>
          <a:prstGeom prst="line">
            <a:avLst/>
          </a:prstGeom>
          <a:ln w="25400">
            <a:solidFill>
              <a:srgbClr val="1B25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897880" y="3154680"/>
            <a:ext cx="54864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00A972"/>
                </a:solidFill>
                <a:latin typeface="Aptos"/>
              </a:rPr>
              <a:t>Real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37960" y="3154680"/>
            <a:ext cx="7315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1B2533"/>
                </a:solidFill>
                <a:latin typeface="Aptos"/>
              </a:rPr>
              <a:t>Prevista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8680" y="5715000"/>
            <a:ext cx="82296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2025-01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12279" y="5715000"/>
            <a:ext cx="82296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2026-06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955279" y="3154680"/>
            <a:ext cx="3429000" cy="26974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29600" y="3401568"/>
            <a:ext cx="28803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2533"/>
                </a:solidFill>
                <a:latin typeface="Aptos"/>
              </a:rPr>
              <a:t>Lectura ejecutiva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0" y="3840480"/>
            <a:ext cx="27889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• Estacionalidad solar visible
• Mes adverso determinista
• Recuperación posterior a incidencia
• Drill-down por región e instalación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Conversación con Genie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sintéticos | Demo Databricks Free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234440"/>
            <a:ext cx="6583680" cy="45262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2704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6B7785"/>
                </a:solidFill>
                <a:latin typeface="Aptos"/>
              </a:rPr>
              <a:t>Usuario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1874519"/>
            <a:ext cx="534924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75104"/>
            <a:ext cx="49834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1B2533"/>
                </a:solidFill>
                <a:latin typeface="Aptos"/>
              </a:rPr>
              <a:t>¿Qué región tuvo la mayor desviación negativa y en qué periodo?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880360"/>
            <a:ext cx="3200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0A972"/>
                </a:solidFill>
                <a:latin typeface="Aptos"/>
              </a:rPr>
              <a:t>Renewable Operations Analyst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246120"/>
            <a:ext cx="58978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01568"/>
            <a:ext cx="5440680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Hallazgo primero
Periodo y MWh explícitos
Evidencia desde la métrica gobernada
Inferencias claramente marcadas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463040"/>
            <a:ext cx="3200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B2533"/>
                </a:solidFill>
                <a:latin typeface="Aptos"/>
              </a:rPr>
              <a:t>Consulta libre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192024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B7785"/>
                </a:solidFill>
                <a:latin typeface="Aptos"/>
              </a:rPr>
              <a:t>Explora y formula
una pregunta nueva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063240"/>
            <a:ext cx="3200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0A972"/>
                </a:solidFill>
                <a:latin typeface="Aptos"/>
              </a:rPr>
              <a:t>Métrica gobernada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52044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6B7785"/>
                </a:solidFill>
                <a:latin typeface="Aptos"/>
              </a:rPr>
              <a:t>Reutiliza reglas,
unidades y calendario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Guion de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sintéticos | Demo Databricks Free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1005840" y="2103120"/>
            <a:ext cx="658368" cy="658368"/>
          </a:xfrm>
          <a:prstGeom prst="ellipse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231136"/>
            <a:ext cx="43891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999232"/>
            <a:ext cx="1691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Detectar
desviación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64208" y="2432304"/>
            <a:ext cx="1243583" cy="0"/>
          </a:xfrm>
          <a:prstGeom prst="line">
            <a:avLst/>
          </a:prstGeom>
          <a:ln w="25400">
            <a:solidFill>
              <a:srgbClr val="D9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907791" y="2103120"/>
            <a:ext cx="658368" cy="658368"/>
          </a:xfrm>
          <a:prstGeom prst="ellipse">
            <a:avLst/>
          </a:prstGeom>
          <a:solidFill>
            <a:srgbClr val="1B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2231136"/>
            <a:ext cx="43891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04872" y="2999232"/>
            <a:ext cx="1691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Analizar
región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66160" y="2432304"/>
            <a:ext cx="1243584" cy="0"/>
          </a:xfrm>
          <a:prstGeom prst="line">
            <a:avLst/>
          </a:prstGeom>
          <a:ln w="25400">
            <a:solidFill>
              <a:srgbClr val="D9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809744" y="2103120"/>
            <a:ext cx="658368" cy="658368"/>
          </a:xfrm>
          <a:prstGeom prst="ellipse">
            <a:avLst/>
          </a:prstGeom>
          <a:solidFill>
            <a:srgbClr val="1B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9472" y="2231136"/>
            <a:ext cx="43891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06824" y="2999232"/>
            <a:ext cx="1691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Bajar a
instalación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68112" y="2432304"/>
            <a:ext cx="1243584" cy="0"/>
          </a:xfrm>
          <a:prstGeom prst="line">
            <a:avLst/>
          </a:prstGeom>
          <a:ln w="25400">
            <a:solidFill>
              <a:srgbClr val="D9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6711696" y="2103120"/>
            <a:ext cx="658368" cy="658368"/>
          </a:xfrm>
          <a:prstGeom prst="ellipse">
            <a:avLst/>
          </a:prstGeom>
          <a:solidFill>
            <a:srgbClr val="1B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21424" y="2231136"/>
            <a:ext cx="43891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8776" y="2999232"/>
            <a:ext cx="1691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Relacionar
incidencias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70064" y="2432304"/>
            <a:ext cx="1243584" cy="0"/>
          </a:xfrm>
          <a:prstGeom prst="line">
            <a:avLst/>
          </a:prstGeom>
          <a:ln w="25400">
            <a:solidFill>
              <a:srgbClr val="D9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8613648" y="2103120"/>
            <a:ext cx="658368" cy="658368"/>
          </a:xfrm>
          <a:prstGeom prst="ellipse">
            <a:avLst/>
          </a:prstGeom>
          <a:solidFill>
            <a:srgbClr val="1B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23376" y="2231136"/>
            <a:ext cx="43891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10728" y="2999232"/>
            <a:ext cx="1691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Preguntar en
lenguaje natural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72016" y="2432304"/>
            <a:ext cx="1243584" cy="0"/>
          </a:xfrm>
          <a:prstGeom prst="line">
            <a:avLst/>
          </a:prstGeom>
          <a:ln w="25400">
            <a:solidFill>
              <a:srgbClr val="D9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10515600" y="2103120"/>
            <a:ext cx="658368" cy="658368"/>
          </a:xfrm>
          <a:prstGeom prst="ellipse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25328" y="2231136"/>
            <a:ext cx="43891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12680" y="2999232"/>
            <a:ext cx="1691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B2533"/>
                </a:solidFill>
                <a:latin typeface="Aptos"/>
              </a:rPr>
              <a:t>Convertir en
acción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4800600"/>
            <a:ext cx="8046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0A972"/>
                </a:solidFill>
                <a:latin typeface="Aptos"/>
              </a:rPr>
              <a:t>Una historia de 12-15 minutos: del síntoma a una decisión trazable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Valor para negocio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sintéticos | Demo Databricks Free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3520440" cy="16916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73152" cy="169164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481328"/>
            <a:ext cx="32004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Menor tiempo hasta el insight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1874519"/>
            <a:ext cx="320040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Resultado esperable; sujeto a validación en el contexto corporativo.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371600"/>
            <a:ext cx="3520440" cy="16916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371600"/>
            <a:ext cx="73152" cy="169164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1481328"/>
            <a:ext cx="32004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Autoservicio guiado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1874519"/>
            <a:ext cx="320040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Resultado esperable; sujeto a validación en el contexto corporativo.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371600"/>
            <a:ext cx="3520440" cy="16916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371600"/>
            <a:ext cx="73152" cy="169164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481328"/>
            <a:ext cx="32004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Coherencia métrica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1874519"/>
            <a:ext cx="320040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Resultado esperable; sujeto a validación en el contexto corporativo.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611880"/>
            <a:ext cx="3520440" cy="16916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11880"/>
            <a:ext cx="73152" cy="169164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3721608"/>
            <a:ext cx="32004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Trazabilidad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" y="4114800"/>
            <a:ext cx="320040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Resultado esperable; sujeto a validación en el contexto corporativo.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3611880"/>
            <a:ext cx="3520440" cy="16916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34840" y="3611880"/>
            <a:ext cx="73152" cy="169164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36008" y="3721608"/>
            <a:ext cx="32004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Menor carga de consultas repetitivas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36008" y="4114800"/>
            <a:ext cx="320040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Resultado esperable; sujeto a validación en el contexto corporativo.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3611880"/>
            <a:ext cx="3520440" cy="16916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0" y="3611880"/>
            <a:ext cx="73152" cy="169164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8" y="3721608"/>
            <a:ext cx="32004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Patrón escalable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4114800"/>
            <a:ext cx="320040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Resultado esperable; sujeto a validación en el contexto corporativo.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Controles y calidad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sintéticos | Demo Databricks Free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280160"/>
            <a:ext cx="53035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280160"/>
            <a:ext cx="73152" cy="123444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389888"/>
            <a:ext cx="49834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Infraestructura como código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783080"/>
            <a:ext cx="4983480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Bundle validable y reproducible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80160"/>
            <a:ext cx="53035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280160"/>
            <a:ext cx="73152" cy="123444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7" y="1389888"/>
            <a:ext cx="49834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7" y="1783080"/>
            <a:ext cx="4983480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19 tests · 90,7 % cobertura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834639"/>
            <a:ext cx="53035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834639"/>
            <a:ext cx="73152" cy="123444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944368"/>
            <a:ext cx="49834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Data quality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337559"/>
            <a:ext cx="4983480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Claves, rangos, conteos y coherencia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834639"/>
            <a:ext cx="53035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2834639"/>
            <a:ext cx="73152" cy="123444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4807" y="2944368"/>
            <a:ext cx="49834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Idempotencia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7" y="3337559"/>
            <a:ext cx="4983480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Segunda ejecución sin duplicados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389120"/>
            <a:ext cx="53035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4389120"/>
            <a:ext cx="73152" cy="123444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498848"/>
            <a:ext cx="49834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Unity Catalog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892040"/>
            <a:ext cx="4983480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Namespace aislado y comentado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89120"/>
            <a:ext cx="5303520" cy="12344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4389120"/>
            <a:ext cx="73152" cy="123444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64807" y="4498848"/>
            <a:ext cx="49834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Aislamiento Genie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4807" y="4892040"/>
            <a:ext cx="4983480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Solo semantic layer autorizada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806440"/>
            <a:ext cx="98755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1B2533"/>
                </a:solidFill>
                <a:latin typeface="Aptos"/>
              </a:rPr>
              <a:t>Contrato desplegado: 10 assets · 5,460 días-activo · 15 incidencias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Próximos pasos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sintéticos | Demo Databricks Free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34440"/>
            <a:ext cx="502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3621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234440"/>
            <a:ext cx="7863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2533"/>
                </a:solidFill>
                <a:latin typeface="Aptos"/>
              </a:rPr>
              <a:t>Incorporar datos corporativos gobernados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84248"/>
            <a:ext cx="502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3621"/>
                </a:solidFill>
                <a:latin typeface="Apto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984248"/>
            <a:ext cx="7863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2533"/>
                </a:solidFill>
                <a:latin typeface="Aptos"/>
              </a:rPr>
              <a:t>Separar entornos y permisos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34056"/>
            <a:ext cx="502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3621"/>
                </a:solidFill>
                <a:latin typeface="Aptos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734056"/>
            <a:ext cx="7863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2533"/>
                </a:solidFill>
                <a:latin typeface="Aptos"/>
              </a:rPr>
              <a:t>Añadir dominios y acuerdos de calidad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83864"/>
            <a:ext cx="502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3621"/>
                </a:solidFill>
                <a:latin typeface="Aptos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483864"/>
            <a:ext cx="7863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2533"/>
                </a:solidFill>
                <a:latin typeface="Aptos"/>
              </a:rPr>
              <a:t>Validar seguridad de extremo a extremo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33672"/>
            <a:ext cx="502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3621"/>
                </a:solidFill>
                <a:latin typeface="Aptos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233672"/>
            <a:ext cx="7863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2533"/>
                </a:solidFill>
                <a:latin typeface="Aptos"/>
              </a:rPr>
              <a:t>Medir adopción y calidad de respuestas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83479"/>
            <a:ext cx="502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3621"/>
                </a:solidFill>
                <a:latin typeface="Aptos"/>
              </a:rP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983479"/>
            <a:ext cx="7863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2533"/>
                </a:solidFill>
                <a:latin typeface="Aptos"/>
              </a:rPr>
              <a:t>Industrializar CI/CD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09760" y="1417320"/>
            <a:ext cx="1965960" cy="329184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29800" y="1737360"/>
            <a:ext cx="1325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1B2533"/>
                </a:solidFill>
                <a:latin typeface="Aptos"/>
              </a:rPr>
              <a:t>Estado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2423160"/>
            <a:ext cx="1417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00A972"/>
                </a:solidFill>
                <a:latin typeface="Aptos"/>
              </a:rPr>
              <a:t>Despliegue remoto
validado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8" y="3429000"/>
            <a:ext cx="1371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6B7785"/>
                </a:solidFill>
                <a:latin typeface="Aptos"/>
              </a:rPr>
              <a:t>Dos ejecuciones
idempotentes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