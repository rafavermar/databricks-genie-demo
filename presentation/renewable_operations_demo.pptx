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Abrir con el resultado: una experiencia de negocio completa sobre una base gobernada.</a:t>
            </a:r>
          </a:p>
          <a:p>
            <a:r>
              <a:t>Transición: Primero resumimos qué demuestra realmente el entregable.</a:t>
            </a:r>
          </a:p>
          <a:p>
            <a:r>
              <a:t>Duración aproximada: 0:45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Aclarar que cada promesa está respaldada por un recurso desplegado o una prueba real.</a:t>
            </a:r>
          </a:p>
          <a:p>
            <a:r>
              <a:t>Transición: Conectamos la propuesta con un problema de negocio reconocible.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Enmarcar la demo como solución al ciclo completo de decisión y no como chatbot aislado.</a:t>
            </a:r>
          </a:p>
          <a:p>
            <a:r>
              <a:t>Transición: Mostramos el caso de uso que hemos implementado.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Usar los KPIs reales como ancla y presentar las preguntas por perfil de negocio.</a:t>
            </a:r>
          </a:p>
          <a:p>
            <a:r>
              <a:t>Transición: Situamos ahora cada experiencia dentro de la familia Genie.</a:t>
            </a:r>
          </a:p>
          <a:p>
            <a:r>
              <a:t>Duración aproximada: 1:15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Evitar mezclar Genie One con el Agent: One es el punto de consumo; el Agent contiene contexto.</a:t>
            </a:r>
          </a:p>
          <a:p>
            <a:r>
              <a:t>Transición: Veamos la experiencia real que recibe un usuario de negocio.</a:t>
            </a:r>
          </a:p>
          <a:p>
            <a:r>
              <a:t>Duración aproximada: 1:20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Señalar que esta pantalla reduce la exposición a conceptos técnicos del workspace.</a:t>
            </a:r>
          </a:p>
          <a:p>
            <a:r>
              <a:t>Transición: Bajamos de la experiencia a la jerarquía de componentes.</a:t>
            </a:r>
          </a:p>
          <a:p>
            <a:r>
              <a:t>Duración aproximada: 1:20</a:t>
            </a:r>
          </a:p>
          <a:p>
            <a:r>
              <a:t>Demostración: Abrir /one y mostrar Agents y Dashboards.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Explicar la jerarquía desde identidad hasta consumo y distinguir objetos de datos de experiencias.</a:t>
            </a:r>
          </a:p>
          <a:p>
            <a:r>
              <a:t>Transición: La siguiente lámina lo convierte en una visión visual de extremo a extremo.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Recorrer el diagrama plano de izquierda a derecha y explicar la función de cada componente.</a:t>
            </a:r>
          </a:p>
          <a:p>
            <a:r>
              <a:t>Transición: Aterrizamos esa visión en el modelo de datos gobernado.</a:t>
            </a:r>
          </a:p>
          <a:p>
            <a:r>
              <a:t>Duración aproximada: 1:00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Subrayar que la exactitud no depende solo del modelo: depende de métricas y contexto curados.</a:t>
            </a:r>
          </a:p>
          <a:p>
            <a:r>
              <a:t>Transición: Mostramos cómo se consume esa base en el dashboard.</a:t>
            </a:r>
          </a:p>
          <a:p>
            <a:r>
              <a:t>Duración aproximada: 1:10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Mostrar KPIs, tendencia, tecnología, región y filtros; evitar leer cada gráfico.</a:t>
            </a:r>
          </a:p>
          <a:p>
            <a:r>
              <a:t>Transición: Bajamos a la fiabilidad operativa.</a:t>
            </a:r>
          </a:p>
          <a:p>
            <a:r>
              <a:t>Duración aproximada: 1:30</a:t>
            </a:r>
          </a:p>
          <a:p>
            <a:r>
              <a:t>Demostración: Filtrar por tecnología o región en el dashboard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Enseñar la transición de la visión ejecutiva a instalaciones, incidencias y coste.</a:t>
            </a:r>
          </a:p>
          <a:p>
            <a:r>
              <a:t>Transición: La siguiente pregunta profundiza sin abandonar la semántica.</a:t>
            </a:r>
          </a:p>
          <a:p>
            <a:r>
              <a:t>Duración aproximada: 1:20</a:t>
            </a:r>
          </a:p>
          <a:p>
            <a:r>
              <a:t>Demostración: Abrir la pestaña Operational Reliability.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Leer solo el hallazgo y señalar que el usuario puede inspeccionar SQL, tabla y visualización.</a:t>
            </a:r>
          </a:p>
          <a:p>
            <a:r>
              <a:t>Transición: Descomponemos cómo se genera una respuesta confiable.</a:t>
            </a:r>
          </a:p>
          <a:p>
            <a:r>
              <a:t>Duración aproximada: 1:40</a:t>
            </a:r>
          </a:p>
          <a:p>
            <a:r>
              <a:t>Demostración: Abrir la conversación capturada y mostrar Show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Explicar que Genie no responde desde conocimiento genérico: genera SQL sobre una fuente autorizada.</a:t>
            </a:r>
          </a:p>
          <a:p>
            <a:r>
              <a:t>Transición: La confianza se verifica de forma repetible con benchmarks.</a:t>
            </a:r>
          </a:p>
          <a:p>
            <a:r>
              <a:t>Duración aproximada: 1:20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Mostrar que la calidad puede medirse y revisarse por pregunta, SQL y ground truth.</a:t>
            </a:r>
          </a:p>
          <a:p>
            <a:r>
              <a:t>Transición: Resumimos el ciclo de mejora continua.</a:t>
            </a:r>
          </a:p>
          <a:p>
            <a:r>
              <a:t>Duración aproximada: 1:30</a:t>
            </a:r>
          </a:p>
          <a:p>
            <a:r>
              <a:t>Demostración: Abrir Benchmark y seleccionar una evaluación.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Posicionar benchmarks y monitorización como disciplina de producto, no como tarea puntual.</a:t>
            </a:r>
          </a:p>
          <a:p>
            <a:r>
              <a:t>Transición: Aclaramos ahora qué significan las Apps dentro de Genie One.</a:t>
            </a:r>
          </a:p>
          <a:p>
            <a:r>
              <a:t>Duración aproximada: 1:10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Distinguir una App de un Agent: la App implementa una experiencia y puede invocar al Agent.</a:t>
            </a:r>
          </a:p>
          <a:p>
            <a:r>
              <a:t>Transición: Separamos claramente lo ya desplegado de las extensiones posibles.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Separar con transparencia lo demostrado de lo que forma parte del roadmap.</a:t>
            </a:r>
          </a:p>
          <a:p>
            <a:r>
              <a:t>Transición: Pasamos al modelo de acceso y entrega.</a:t>
            </a:r>
          </a:p>
          <a:p>
            <a:r>
              <a:t>Duración aproximada: 1:15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Responder explícitamente que el bundle no es el artefacto que recibe el usuario de negocio.</a:t>
            </a:r>
          </a:p>
          <a:p>
            <a:r>
              <a:t>Transición: Cerramos con un recorrido de demo fácil de presentar.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Cerrar pidiendo una decisión concreta y evitando prometer industrialización automática.</a:t>
            </a:r>
          </a:p>
          <a:p>
            <a:r>
              <a:t>Transición: Abrir preguntas.</a:t>
            </a:r>
          </a:p>
          <a:p>
            <a:r>
              <a:t>Duración aproximada: 0:50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Utilizar este anexo únicamente cuando haya audiencia técnica o preguntas de implementación.</a:t>
            </a:r>
          </a:p>
          <a:p>
            <a:r>
              <a:t>Transición: La siguiente lámina explica cómo reproducir el proyecto en cada tipo de workspace.</a:t>
            </a:r>
          </a:p>
          <a:p>
            <a:r>
              <a:t>Duración aproximada: 1:30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Aclarar que el bundle no crea infraestructura de cuenta ni un SQL warehouse.</a:t>
            </a:r>
          </a:p>
          <a:p>
            <a:r>
              <a:t>Transición: El runbook contiene los comandos exactos para ambos targets.</a:t>
            </a:r>
          </a:p>
          <a:p>
            <a:r>
              <a:t>Duración aproximada: 1:20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principal: Guía para el equipo presentador. Esta diapositiva se mantiene al final para que pueda eliminarse sin alterar la narrativa principal.</a:t>
            </a:r>
          </a:p>
          <a:p>
            <a:r>
              <a:t>Transición: Fin del anexo interno.</a:t>
            </a:r>
          </a:p>
          <a:p>
            <a:r>
              <a:t>Duración aproximada: 1:10</a:t>
            </a:r>
          </a:p>
          <a:p>
            <a:r>
              <a:t>Demostración: N/A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566928"/>
            <a:ext cx="388620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85216"/>
            <a:ext cx="373989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VIABILIDAD E IMPLEMENTACIÓN · DATABRICKS GENIE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34440"/>
            <a:ext cx="48920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"/>
              </a:rPr>
              <a:t>Inteligencia operativa
para energía renovable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788920"/>
            <a:ext cx="46634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9DFE5"/>
                </a:solidFill>
                <a:latin typeface="Aptos"/>
              </a:rPr>
              <a:t>Genie One aplicado a generación, fiabilidad y decisiones operativas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703320"/>
            <a:ext cx="47548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AI/BI Dashboard · Genie Agent · Genie One · Automation Bundle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42432" y="658368"/>
            <a:ext cx="5806440" cy="5394960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932688"/>
            <a:ext cx="5102352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D9DFE5"/>
                </a:solidFill>
                <a:latin typeface="Aptos"/>
              </a:rPr>
              <a:t>ARQUITECTURA DEL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19088" y="1389888"/>
            <a:ext cx="4434840" cy="64008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453896"/>
            <a:ext cx="41056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GENIE 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746504"/>
            <a:ext cx="4105656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Aptos"/>
              </a:rPr>
              <a:t>Entrada única para negocio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41080" y="2039112"/>
            <a:ext cx="0" cy="22860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3328" y="2286000"/>
            <a:ext cx="2468880" cy="8412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2395728"/>
            <a:ext cx="217627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0A972"/>
                </a:solidFill>
                <a:latin typeface="Aptos"/>
              </a:rPr>
              <a:t>AI/BI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2761488"/>
            <a:ext cx="217627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>
                <a:solidFill>
                  <a:srgbClr val="D9DFE5"/>
                </a:solidFill>
                <a:latin typeface="Aptos"/>
              </a:rPr>
              <a:t>KPIs · filtros · visuales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3376" y="2286000"/>
            <a:ext cx="2468880" cy="8412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2395728"/>
            <a:ext cx="2176272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39C4A"/>
                </a:solidFill>
                <a:latin typeface="Aptos"/>
              </a:rPr>
              <a:t>GENIE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761488"/>
            <a:ext cx="2176272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50" b="0">
                <a:solidFill>
                  <a:srgbClr val="D9DFE5"/>
                </a:solidFill>
                <a:latin typeface="Aptos"/>
              </a:rPr>
              <a:t>Preguntas · SQL · benchmark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41080" y="3145536"/>
            <a:ext cx="0" cy="237744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19088" y="3401568"/>
            <a:ext cx="4434840" cy="65836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493008"/>
            <a:ext cx="4069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00A972"/>
                </a:solidFill>
                <a:latin typeface="Aptos"/>
              </a:rPr>
              <a:t>UNITY CATALOG + SEMÁNTICA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767328"/>
            <a:ext cx="4069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D9DFE5"/>
                </a:solidFill>
                <a:latin typeface="Aptos"/>
              </a:rPr>
              <a:t>KPI diario · Semantic View · Metric 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9088" y="4325112"/>
            <a:ext cx="4434840" cy="65836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416552"/>
            <a:ext cx="4069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39C4A"/>
                </a:solidFill>
                <a:latin typeface="Aptos"/>
              </a:rPr>
              <a:t>SQL WAREHOUSE +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690872"/>
            <a:ext cx="4069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D9DFE5"/>
                </a:solidFill>
                <a:latin typeface="Aptos"/>
              </a:rPr>
              <a:t>Consulta y procesamiento serverless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19088" y="5230368"/>
            <a:ext cx="4434840" cy="65836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321807"/>
            <a:ext cx="406908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D9DFE5"/>
                </a:solidFill>
                <a:latin typeface="Aptos"/>
              </a:rPr>
              <a:t>DATOS SINTÉTICOS DE OPERACIÓN ENERGÉTICA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596128"/>
            <a:ext cx="40690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30" b="0">
                <a:solidFill>
                  <a:srgbClr val="D9DFE5"/>
                </a:solidFill>
                <a:latin typeface="Aptos"/>
              </a:rPr>
              <a:t>Generación · previsión · disponibilidad · incidencias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641080" y="4069080"/>
            <a:ext cx="0" cy="228600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41080" y="4992624"/>
            <a:ext cx="0" cy="210312"/>
          </a:xfrm>
          <a:prstGeom prst="line">
            <a:avLst/>
          </a:prstGeom>
          <a:ln w="2286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49808" y="6492240"/>
            <a:ext cx="676656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45952" y="6492240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Qué demuestra esta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Una historia completa: observar, preguntar, validar y actuar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3621"/>
                </a:solidFill>
                <a:latin typeface="Aptos"/>
              </a:rPr>
              <a:t>01 · OBSERVAR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KPIs ejecutivos y fiabilidad operativa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Dashboard publicado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39C4A"/>
                </a:solidFill>
                <a:latin typeface="Aptos"/>
              </a:rPr>
              <a:t>02 · PREGUNTAR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Análisis conversacional sobre la misma semántica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Genie Agent real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03 · CONFIAR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SQL de referencia, benchmarks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5/5 benchmarks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7424" y="1444752"/>
            <a:ext cx="2542032" cy="347472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72016" y="1719072"/>
            <a:ext cx="2212848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04 · ESCALAR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2359152"/>
            <a:ext cx="2194560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1B2533"/>
                </a:solidFill>
                <a:latin typeface="Aptos"/>
              </a:rPr>
              <a:t>Entrega reproducible y extensible con Apps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4069080"/>
            <a:ext cx="21945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GitHub + Bundle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394960"/>
            <a:ext cx="99669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0A972"/>
                </a:solidFill>
                <a:latin typeface="Aptos"/>
              </a:rPr>
              <a:t>El activo principal no es una pantalla: es un patrón reutilizable de decisión gobernada.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El reto: del dato operativo a una decisión compartida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La dificultad no es solo consultar datos; es acordar significado y acelerar la respuesta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444752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162763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5" y="1627632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Señales dispersas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5" y="2130552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Generación, previsión, disponibilidad e incidencias sin una lectura común.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5936" y="1444752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627632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78624" y="1627632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Métricas discutibles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78624" y="2130552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Distintos cálculos para desviación, coste o factor de capacidad.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3584448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767328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82495" y="3767328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Exploración lenta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2495" y="4270248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Cada nueva pregunta vuelve a depender de un analista o una consulta ad hoc.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5936" y="3584448"/>
            <a:ext cx="5230368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6B77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767328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3767328"/>
            <a:ext cx="3931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Acción desconectada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8624" y="4270248"/>
            <a:ext cx="3886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9DFE5"/>
                </a:solidFill>
                <a:latin typeface="Aptos"/>
              </a:rPr>
              <a:t>El insight no siempre llega al flujo operativo adecuado.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Caso de uso: operación de activos de energía renovable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18 meses · 10 instalaciones · datos exclusivamente sintéticos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3,8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Generación real (MWh)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298448"/>
            <a:ext cx="64008" cy="114300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00984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-57,9 mil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Desviación vs. previsión (MWh)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00984" y="1298448"/>
            <a:ext cx="64008" cy="11430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0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9904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96,81 %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Disponibilidad media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1298448"/>
            <a:ext cx="64008" cy="114300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86216" y="1298448"/>
            <a:ext cx="2514600" cy="11430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1444751"/>
            <a:ext cx="2221992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B2533"/>
                </a:solidFill>
                <a:latin typeface="Aptos"/>
              </a:rPr>
              <a:t>1,25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002536"/>
            <a:ext cx="22219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CO₂ evitado (toneladas)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86216" y="1298448"/>
            <a:ext cx="64008" cy="1143000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2496312"/>
            <a:ext cx="105156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0">
                <a:solidFill>
                  <a:srgbClr val="6B7785"/>
                </a:solidFill>
                <a:latin typeface="Aptos"/>
              </a:rPr>
              <a:t>GreenGrid Energy opera instalaciones solares, eólicas e hidráulicas. La solución identifica desviaciones de generación y fiabilidad para priorizar dónde investigar y actuar.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2926080"/>
            <a:ext cx="3401568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8" y="2926080"/>
            <a:ext cx="73152" cy="16002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3035808"/>
            <a:ext cx="30815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Dirección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3429000"/>
            <a:ext cx="3081528" cy="9784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¿Dónde está la desviación y cuál es su impacto?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17136" y="2926080"/>
            <a:ext cx="3401568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17136" y="2926080"/>
            <a:ext cx="73152" cy="1600200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18304" y="3035808"/>
            <a:ext cx="30815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Operaciones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18304" y="3429000"/>
            <a:ext cx="3081528" cy="9784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¿Qué instalación combina baja disponibilidad e incidencias?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84464" y="2926080"/>
            <a:ext cx="3401568" cy="160020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84464" y="2926080"/>
            <a:ext cx="73152" cy="1600200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85632" y="3035808"/>
            <a:ext cx="308152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5632" y="3429000"/>
            <a:ext cx="3081528" cy="9784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¿Qué tecnología presenta mayor coste por MWh?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5102352"/>
            <a:ext cx="854964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1B2533"/>
                </a:solidFill>
                <a:latin typeface="Aptos"/>
              </a:rPr>
              <a:t>Una misma capa semántica responde tanto al dashboard como a Genie.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La familia Genie: tres experiencias, una base gobernada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Terminología vigente: Genie Agents era anteriormente Genie 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508760"/>
            <a:ext cx="3401568" cy="363931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7" y="1783080"/>
            <a:ext cx="150876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01368"/>
            <a:ext cx="13624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Genie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42316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Interfaz simplificada para negocio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3310128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9DFE5"/>
                </a:solidFill>
                <a:latin typeface="Aptos"/>
              </a:rPr>
              <a:t>Chat unificado · dashboards · Apps · dominios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7136" y="1508760"/>
            <a:ext cx="3401568" cy="363931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45736" y="1783080"/>
            <a:ext cx="150876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18888" y="1801368"/>
            <a:ext cx="13624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Genie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2316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Especialistas por dominio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3310128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9DFE5"/>
                </a:solidFill>
                <a:latin typeface="Aptos"/>
              </a:rPr>
              <a:t>Datos curados · instrucciones · SQL de referencia · benchmarks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4464" y="1508760"/>
            <a:ext cx="3401568" cy="363931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13064" y="1783080"/>
            <a:ext cx="150876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6216" y="1801368"/>
            <a:ext cx="13624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Genie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4" y="2423160"/>
            <a:ext cx="28346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Asistente para equipos técnicos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13064" y="3310128"/>
            <a:ext cx="2834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D9DFE5"/>
                </a:solidFill>
                <a:latin typeface="Aptos"/>
              </a:rPr>
              <a:t>Código · pipelines · dashboards · tareas agentic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577840"/>
            <a:ext cx="96469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A972"/>
                </a:solidFill>
                <a:latin typeface="Aptos"/>
              </a:rPr>
              <a:t>Este demo despliega un Genie Agent y lo hace descubrible desde Genie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docs.databricks.com/aws/en/genie/ · consultado 24/07/2026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Genie One: un único punto de entrada para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Sin notebooks, clusters ni SQL como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1161288"/>
            <a:ext cx="7598664" cy="482803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8720"/>
            <a:ext cx="7543800" cy="477316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85632" y="1234440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85632" y="1234440"/>
            <a:ext cx="73152" cy="941832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1344168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Preguntar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7373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Lenguaje natural sobre datos gobernados.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85632" y="2395728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85632" y="2395728"/>
            <a:ext cx="73152" cy="941832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2505456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Descubrir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Agents, dashboards y dominios compartidos.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85632" y="3557016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85632" y="3557016"/>
            <a:ext cx="73152" cy="941832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666744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Consumir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059936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Apps y tareas sin cambiar de experiencia.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85632" y="4718304"/>
            <a:ext cx="3063240" cy="941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85632" y="4718304"/>
            <a:ext cx="73152" cy="941832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828032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Movilidad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5221224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785"/>
                </a:solidFill>
                <a:latin typeface="Aptos"/>
              </a:rPr>
              <a:t>Experiencia disponible también en móvil.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docs.databricks.com/aws/en/genie-one/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Jerarquía del demo en Databricks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Qué contiene cada nivel y quién lo consume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44200" cy="56692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371600"/>
            <a:ext cx="14630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CUENTA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8732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Identidad · usuarios · acceso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8992" y="1993392"/>
            <a:ext cx="10058400" cy="6400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084832"/>
            <a:ext cx="1463040" cy="4571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WORKSPACE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1" y="2084832"/>
            <a:ext cx="8046720" cy="4571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Free Edition · compute serverless · SQL warehouse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44752" y="2798064"/>
            <a:ext cx="9326880" cy="694944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09344" y="2889504"/>
            <a:ext cx="14630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0A972"/>
                </a:solidFill>
                <a:latin typeface="Aptos"/>
              </a:rPr>
              <a:t>UNITY CATALOG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889504"/>
            <a:ext cx="731519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catalog workspace  &gt;  schema renewable_operations_demo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Delta tables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assets · generación · incidencias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79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Capa semántica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daily KPI · semantic view · Metric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Servicio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SQL Warehouse · workflow serverless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3822191"/>
            <a:ext cx="2542032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4584" y="3977639"/>
            <a:ext cx="2267712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B2533"/>
                </a:solidFill>
                <a:latin typeface="Aptos"/>
              </a:rPr>
              <a:t>Experiencias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4584" y="4370832"/>
            <a:ext cx="22677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AI/BI Dashboard · Genie Agent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9048" y="3502152"/>
            <a:ext cx="0" cy="265176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240280" y="5394960"/>
            <a:ext cx="7726679" cy="56692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5504688"/>
            <a:ext cx="7360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GENIE ONE · consumo por usuarios de negocio  |  APP operativa · extensión opcional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De los datos operativos a la acción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Componentes del demo y flujo de valor · diagrama plano y editable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0352" y="1444752"/>
            <a:ext cx="2029968" cy="82296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DATOS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Generación real y prevista
Disponibilidad
Incidencias y costes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78608" y="3584448"/>
            <a:ext cx="228600" cy="0"/>
          </a:xfrm>
          <a:prstGeom prst="line">
            <a:avLst/>
          </a:prstGeom>
          <a:ln w="3048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6207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62072" y="1444752"/>
            <a:ext cx="2029968" cy="82296"/>
          </a:xfrm>
          <a:prstGeom prst="rect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6664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39C4A"/>
                </a:solidFill>
                <a:latin typeface="Apto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26664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PREPARAR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26664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Tablas Delta
KPI diario
Workflow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10328" y="3584448"/>
            <a:ext cx="228600" cy="0"/>
          </a:xfrm>
          <a:prstGeom prst="line">
            <a:avLst/>
          </a:prstGeom>
          <a:ln w="3048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9379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93792" y="1444752"/>
            <a:ext cx="2029968" cy="82296"/>
          </a:xfrm>
          <a:prstGeom prst="rect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3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A972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3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GOBERNAR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3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Unity Catalog
Semantic View
Metric View
Unidades y periodo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42048" y="3584448"/>
            <a:ext cx="228600" cy="0"/>
          </a:xfrm>
          <a:prstGeom prst="line">
            <a:avLst/>
          </a:prstGeom>
          <a:ln w="3048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525511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25511" y="1444752"/>
            <a:ext cx="2029968" cy="82296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0103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3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ANALIZAR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0103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AI/BI Dashboard
Genie Agent
SQL de referencia
Benchmarks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573767" y="3584448"/>
            <a:ext cx="228600" cy="0"/>
          </a:xfrm>
          <a:prstGeom prst="line">
            <a:avLst/>
          </a:prstGeom>
          <a:ln w="3048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57232" y="1444752"/>
            <a:ext cx="2029968" cy="42976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57232" y="1444752"/>
            <a:ext cx="2029968" cy="82296"/>
          </a:xfrm>
          <a:prstGeom prst="rect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21824" y="1719072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21824" y="2176272"/>
            <a:ext cx="1682496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B2533"/>
                </a:solidFill>
                <a:latin typeface="Aptos"/>
              </a:rPr>
              <a:t>DECIDIR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21824" y="2788920"/>
            <a:ext cx="16824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Genie One
Observar
Preguntar
Priorizar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97280" y="5961888"/>
            <a:ext cx="9966960" cy="3840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8448" y="6016752"/>
            <a:ext cx="9564624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DESPLEGADO HOY: DATOS → PREPARACIÓN → GOBIERNO → ANÁLISIS → DECISIÓN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Fundación gobernada y reutilizable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La calidad de Genie empieza antes del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261872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17319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1B2533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371600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Datos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371600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10 assets · 5.460 días-activo · 15 incidencias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77639" y="2167128"/>
            <a:ext cx="0" cy="173735"/>
          </a:xfrm>
          <a:prstGeom prst="line">
            <a:avLst/>
          </a:prstGeom>
          <a:ln w="22860">
            <a:solidFill>
              <a:srgbClr val="1B25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9808" y="2386584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542032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496312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KPI diario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496312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Real · prevista · disponibilidad · coste · CO₂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77639" y="3291839"/>
            <a:ext cx="0" cy="173737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9808" y="3511296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666744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39C4A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21024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Semantic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621024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Fallback tabular y dataset del dashboard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77639" y="4416552"/>
            <a:ext cx="0" cy="173736"/>
          </a:xfrm>
          <a:prstGeom prst="line">
            <a:avLst/>
          </a:prstGeom>
          <a:ln w="2286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8" y="4636008"/>
            <a:ext cx="6583680" cy="89611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791456"/>
            <a:ext cx="5303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A972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745736"/>
            <a:ext cx="1600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Metric 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745736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Medidas gobernadas para Genie y reutilización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54112" y="1298448"/>
            <a:ext cx="3749039" cy="440740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92440" y="1645920"/>
            <a:ext cx="3063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Contrato semántico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33172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2295144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Desviación = real - prevista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2807208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2770632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Importes en EUR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246120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Generación en MWh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37581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3721608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Periodo siempre explícito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4233672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4197096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Ceros sensibles → NULL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470916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4672583"/>
            <a:ext cx="24871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Instalación ≠ equipo operador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AI/BI Dashboard · visión ejecutiva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Filtros globales y KPIs gobernados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5779008"/>
            <a:ext cx="77724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797296"/>
            <a:ext cx="6309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SEÑAL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5769864"/>
            <a:ext cx="9418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La generación real queda por debajo de la previsión en el periodo analizado.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AI/BI Dashboard · fiabilidad operativa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Nombres de instalación explícitos y dimensiones separadas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5779008"/>
            <a:ext cx="77724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797296"/>
            <a:ext cx="6309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FOCO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5769864"/>
            <a:ext cx="941832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El parque eólico concentra el mayor downtime agregado y requiere investigación.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Genie Agent · de una pregunta a una explicación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Conversación real · SQL, tabla, gráfico y narrativa en una misma respuesta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797296"/>
            <a:ext cx="10561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00A972"/>
                </a:solidFill>
                <a:latin typeface="Aptos"/>
              </a:rPr>
              <a:t>Hallazgo real: Nerea Insular · 95,27 % disponibilidad · 2 incidencias · 274 h de parada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Anatomía de una respuesta confiable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Qué ocurre entre la pregunta y el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6424" y="1481328"/>
            <a:ext cx="621792" cy="621792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615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Pregunta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Lenguaje y objetivo de negocio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14016" y="2889504"/>
            <a:ext cx="329184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7063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38144" y="1481328"/>
            <a:ext cx="621792" cy="621792"/>
          </a:xfrm>
          <a:prstGeom prst="ellipse">
            <a:avLst/>
          </a:prstGeom>
          <a:solidFill>
            <a:srgbClr val="F39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4787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5224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Contexto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Instrucciones + SQL de referencia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45736" y="2889504"/>
            <a:ext cx="329184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0235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9864" y="1481328"/>
            <a:ext cx="621792" cy="621792"/>
          </a:xfrm>
          <a:prstGeom prst="ellipse">
            <a:avLst/>
          </a:prstGeom>
          <a:solidFill>
            <a:srgbClr val="00A9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959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Semántica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Metric View + definiciones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7456" y="2889504"/>
            <a:ext cx="329184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34071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01583" y="1481328"/>
            <a:ext cx="621792" cy="621792"/>
          </a:xfrm>
          <a:prstGeom prst="ellipse">
            <a:avLst/>
          </a:prstGeom>
          <a:solidFill>
            <a:srgbClr val="1B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8663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Ejecución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SQL Warehouse serverless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176" y="2889504"/>
            <a:ext cx="329183" cy="0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65792" y="1828800"/>
            <a:ext cx="1965960" cy="217627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433304" y="1481328"/>
            <a:ext cx="621792" cy="621792"/>
          </a:xfrm>
          <a:prstGeom prst="ellipse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43032" y="1600200"/>
            <a:ext cx="402336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30384" y="2286000"/>
            <a:ext cx="16276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Respuesta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816352"/>
            <a:ext cx="1627632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Narrativa + tabla + gráfico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800600"/>
            <a:ext cx="9921240" cy="74980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17320" y="4983480"/>
            <a:ext cx="93726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0A972"/>
                </a:solidFill>
                <a:latin typeface="Aptos"/>
              </a:rPr>
              <a:t>La respuesta queda trazada hasta workspace.renewable_operations_demo.gg_renewable_operations_metrics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Calidad medible · benchmarks del Genie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Evaluación real ejecutada el 24/07/2026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115568"/>
            <a:ext cx="11009376" cy="494690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143000"/>
            <a:ext cx="10954512" cy="4892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" y="5614416"/>
            <a:ext cx="1077163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5769864"/>
            <a:ext cx="1389888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5788151"/>
            <a:ext cx="1243584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RESULTADO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5760720"/>
            <a:ext cx="86410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B2533"/>
                </a:solidFill>
                <a:latin typeface="Aptos"/>
              </a:rPr>
              <a:t>100 % accurate · 5/5 preguntas · comparación con SQL esperado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El ciclo operativo de calidad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Configurar · probar · observar · corregir · volver a medir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03911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3621"/>
                </a:solidFill>
                <a:latin typeface="Aptos"/>
              </a:rPr>
              <a:t>CURAR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8716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Fuentes, columnas, métricas y terminología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33472" y="2587752"/>
            <a:ext cx="292608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944368" y="2880360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1527" y="304495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39C4A"/>
                </a:solidFill>
                <a:latin typeface="Aptos"/>
              </a:rPr>
              <a:t>ENSEÑAR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1527" y="349300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Instrucciones y SQL de referencia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919472" y="2587752"/>
            <a:ext cx="292607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230368" y="1874519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203911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A972"/>
                </a:solidFill>
                <a:latin typeface="Aptos"/>
              </a:rPr>
              <a:t>EVALUAR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248716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Benchmarks frecuentes y variantes de preguntas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05472" y="2587752"/>
            <a:ext cx="292607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516368" y="2880360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53528" y="304495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1B2533"/>
                </a:solidFill>
                <a:latin typeface="Aptos"/>
              </a:rPr>
              <a:t>MONITORIZAR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349300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Feedback, revisiones y consultas problemáticas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9491472" y="2587752"/>
            <a:ext cx="292608" cy="1005840"/>
          </a:xfrm>
          <a:prstGeom prst="line">
            <a:avLst/>
          </a:prstGeom>
          <a:ln w="22860">
            <a:solidFill>
              <a:srgbClr val="D9DF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802368" y="1874519"/>
            <a:ext cx="1965960" cy="138988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9528" y="2039112"/>
            <a:ext cx="16916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3621"/>
                </a:solidFill>
                <a:latin typeface="Aptos"/>
              </a:rPr>
              <a:t>MEJORAR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9528" y="2487168"/>
            <a:ext cx="169164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6B7785"/>
                </a:solidFill>
                <a:latin typeface="Aptos"/>
              </a:rPr>
              <a:t>Trusted assets, vistas y contexto más preciso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166360"/>
            <a:ext cx="996696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00A972"/>
                </a:solidFill>
                <a:latin typeface="Aptos"/>
              </a:rPr>
              <a:t>Un Agent es un producto analítico vivo: se gestiona con evidencias, no solo con prompts.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docs.databricks.com/aws/en/genie-agents/monitor/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¿Qué son las Apps en el contexto de Genie One?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Experiencias operativas personalizadas que viven sobre la plataforma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417320"/>
            <a:ext cx="4983480" cy="4297680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55648"/>
            <a:ext cx="4297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Databricks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395728"/>
            <a:ext cx="42519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D9DFE5"/>
                </a:solidFill>
                <a:latin typeface="Aptos"/>
              </a:rPr>
              <a:t>Una aplicación web segura y serverless que combina: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718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2" y="29352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Interfaz adaptada al proceso de negocio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290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33924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Genie Agent como recurso con permiso CAN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862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8496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SQL Warehouse y datos de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3434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43068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Workflows, modelos, secretos u otras Apps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00600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764024"/>
            <a:ext cx="3703320" cy="301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Identidad propia y permisos de mínimo privilegio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44768" y="1417320"/>
            <a:ext cx="525780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10528" y="1755648"/>
            <a:ext cx="214884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773936"/>
            <a:ext cx="200253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EXTENSIÓN RECOMENDADA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2359152"/>
            <a:ext cx="4343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100" b="1">
                <a:solidFill>
                  <a:srgbClr val="1B2533"/>
                </a:solidFill>
                <a:latin typeface="Aptos"/>
              </a:rPr>
              <a:t>Renewable Action Center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944368"/>
            <a:ext cx="4343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6B7785"/>
                </a:solidFill>
                <a:latin typeface="Aptos"/>
              </a:rPr>
              <a:t>Una futura App podría convertir el insight en acción: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20440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483864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Consultar el Genie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959352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2" y="3922776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Priorizar instalaciones de riesgo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398264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4361688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Registrar una recomendación operativa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837176"/>
            <a:ext cx="365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14032" y="4800600"/>
            <a:ext cx="3566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Lanzar un workflow o crear una orden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5285232"/>
            <a:ext cx="4343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FF3621"/>
                </a:solidFill>
                <a:latin typeface="Aptos"/>
              </a:rPr>
              <a:t>No está desplegada en el demo actual; es el siguiente incremento lógico.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docs.databricks.com/aws/en/dev-tools/databricks-apps/genie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Capacidades actuales y evolución posible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Un roadmap honesto: probado hoy frente a extensiones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5440680" cy="4526280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572768"/>
            <a:ext cx="201168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591056"/>
            <a:ext cx="18653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DESPLEGADO Y VALIDADO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240280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203704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Tablas Delta y workflow serverless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33472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596896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Semantic View + Metric 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026664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990088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AI/BI Dashboard publicado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3419856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383280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Genie Agent con conversación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13048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76472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5 SQL de referencia + 5 benchmarks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206240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69664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Resultado de benchmark: 100 % (5/5)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599432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562856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Descubrimiento desde Genie 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92624"/>
            <a:ext cx="2743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956048"/>
            <a:ext cx="42976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1B2533"/>
                </a:solidFill>
                <a:latin typeface="Aptos"/>
              </a:rPr>
              <a:t>GitHub + Automation Bundle reproducible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1298448"/>
            <a:ext cx="516636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56832" y="1572768"/>
            <a:ext cx="1874519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9984" y="1591056"/>
            <a:ext cx="17282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SIGUIENTES OPCIONES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21284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App operativa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212848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Insight → workflow/acción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734056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Agent 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734056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Investigaciones multiconsulta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255263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Archivos en Volumes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255263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Cruzar datos y documentos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776472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Conexiones externas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76472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Drive, Slack, Microsoft 365…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4297679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Companion Genie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297679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Exploración desde el dashboard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818888"/>
            <a:ext cx="1600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B2533"/>
                </a:solidFill>
                <a:latin typeface="Aptos"/>
              </a:rPr>
              <a:t>Integración externa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4818888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6B7785"/>
                </a:solidFill>
                <a:latin typeface="Aptos"/>
              </a:rPr>
              <a:t>Conversation API o embedding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6016752"/>
            <a:ext cx="9966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3621"/>
                </a:solidFill>
                <a:latin typeface="Aptos"/>
              </a:rPr>
              <a:t>Recomendación: priorizar la App cuando sea necesario cerrar el ciclo de acción.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Acceso y entrega de los componentes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La forma de acceso depende del rol, el entorno y los permisos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48132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78407" y="1682496"/>
            <a:ext cx="1325880" cy="365760"/>
          </a:xfrm>
          <a:prstGeom prst="roundRect">
            <a:avLst/>
          </a:prstGeom>
          <a:solidFill>
            <a:srgbClr val="FF3621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70078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NEGOCIO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7168" y="166420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Compartir en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230428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Dashboard publicado + Genie Agent + permisos
Consumo desde Genie 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48132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74536" y="1682496"/>
            <a:ext cx="1325880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70078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EQUIPO TÉCNICO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83296" y="166420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Entregar el repositorio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230428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Código, tests, definición del dashboard,
configuración Genie y documentación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363016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407" y="3831336"/>
            <a:ext cx="132588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84962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OTRO WORKSPACE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7168" y="381304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Desplegar el Automation Bundle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7" y="445312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El bundle reproduce jobs y dashboard;
el script configura el Genie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45936" y="3630168"/>
            <a:ext cx="5212080" cy="1755648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574536" y="3831336"/>
            <a:ext cx="1325880" cy="365760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7688" y="384962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USUARIO EXTERNO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83296" y="3813048"/>
            <a:ext cx="3063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PDF, vídeo o integración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4453128"/>
            <a:ext cx="46177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Embedding autenticado, App o Conversation API
según identidad y permisos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724144"/>
            <a:ext cx="100584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0A972"/>
                </a:solidFill>
                <a:latin typeface="Aptos"/>
              </a:rPr>
              <a:t>Regla práctica: negocio consume recursos publicados; tecnología recibe repo + bundle.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Fuente: docs.databricks.com/aws/en/dashboards/share/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5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Una prueba de viabilidad que demuestra un patrón escalable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33271"/>
            <a:ext cx="105156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9555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D9DFE5"/>
                </a:solidFill>
                <a:latin typeface="Aptos"/>
              </a:rPr>
              <a:t>Gobierno + BI + conversación + camino a la 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510528"/>
            <a:ext cx="73152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5952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D9DFE5"/>
                </a:solidFill>
                <a:latin typeface="Aptos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72768"/>
            <a:ext cx="3383280" cy="190195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00A972"/>
                </a:solidFill>
                <a:latin typeface="Aptos"/>
              </a:rPr>
              <a:t>CONFIABLE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D9DFE5"/>
                </a:solidFill>
                <a:latin typeface="Aptos"/>
              </a:rPr>
              <a:t>Métricas y fuentes gobernadas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288" y="1572768"/>
            <a:ext cx="3383280" cy="190195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73168" y="1874519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39C4A"/>
                </a:solidFill>
                <a:latin typeface="Aptos"/>
              </a:rPr>
              <a:t>CONVERSACIONAL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5146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D9DFE5"/>
                </a:solidFill>
                <a:latin typeface="Aptos"/>
              </a:rPr>
              <a:t>Preguntas y follow-ups de negocio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6" y="1572768"/>
            <a:ext cx="3383280" cy="1901952"/>
          </a:xfrm>
          <a:prstGeom prst="roundRect">
            <a:avLst/>
          </a:prstGeom>
          <a:solidFill>
            <a:srgbClr val="233040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0496" y="1874519"/>
            <a:ext cx="30175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F3621"/>
                </a:solidFill>
                <a:latin typeface="Aptos"/>
              </a:rPr>
              <a:t>REPRODUCIBLE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0496" y="2514600"/>
            <a:ext cx="30175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D9DFE5"/>
                </a:solidFill>
                <a:latin typeface="Aptos"/>
              </a:rPr>
              <a:t>Repo, tests y Automation Bundle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51960"/>
            <a:ext cx="2148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FF3621"/>
                </a:solidFill>
                <a:latin typeface="Aptos"/>
              </a:rPr>
              <a:t>Siguiente decisión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709160"/>
            <a:ext cx="982980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Aptos"/>
              </a:rPr>
              <a:t>Validar el patrón con datos y usuarios reales; añadir una App solo si hay una acción operativa que cerrar.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806440"/>
            <a:ext cx="76809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00A972"/>
                </a:solidFill>
                <a:latin typeface="Aptos"/>
              </a:rPr>
              <a:t>¿Qué decisión de negocio queremos acelerar primero?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Anexo técnico · implementación del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Job serverless, notebooks, lenguajes y controles que sostienen la experiencia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43584"/>
            <a:ext cx="6720840" cy="4956048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1832" y="1517904"/>
            <a:ext cx="2240280" cy="365760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1536192"/>
            <a:ext cx="20939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JOB SERVERLESS · 4 TAREAS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1396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860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39C4A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2231136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01_setup_and_generate_data.py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7952" y="2231136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Crea el schema y publica tres tablas Delta sintéticas.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77639" y="2862072"/>
            <a:ext cx="0" cy="173736"/>
          </a:xfrm>
          <a:prstGeom prst="line">
            <a:avLst/>
          </a:prstGeom>
          <a:ln w="22860">
            <a:solidFill>
              <a:srgbClr val="F39C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32688" y="30540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2004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00A972"/>
                </a:solidFill>
                <a:latin typeface="Apto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3145536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02_transform_and_publish.py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7952" y="3145536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Publica KPI, Semantic View y Metric View si está disponible.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77639" y="3776472"/>
            <a:ext cx="0" cy="173736"/>
          </a:xfrm>
          <a:prstGeom prst="line">
            <a:avLst/>
          </a:prstGeom>
          <a:ln w="22860">
            <a:solidFill>
              <a:srgbClr val="00A9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32688" y="39684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1148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059935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03_data_quality_checks.py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87952" y="4059935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Valida conteos, claves, rangos y contrato del dataset.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77639" y="4690872"/>
            <a:ext cx="0" cy="173736"/>
          </a:xfrm>
          <a:prstGeom prst="line">
            <a:avLst/>
          </a:prstGeom>
          <a:ln w="22860">
            <a:solidFill>
              <a:srgbClr val="FF362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32688" y="4882896"/>
            <a:ext cx="6153912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029200"/>
            <a:ext cx="475488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64208" y="4974336"/>
            <a:ext cx="245059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B2533"/>
                </a:solidFill>
                <a:latin typeface="Aptos"/>
              </a:rPr>
              <a:t>04_demo_validation.py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87952" y="4974336"/>
            <a:ext cx="2633472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B7785"/>
                </a:solidFill>
                <a:latin typeface="Aptos"/>
              </a:rPr>
              <a:t>Comprueba las vistas y emite la evidencia final del workflow.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5240" y="1243584"/>
            <a:ext cx="3904487" cy="4956048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1591056"/>
            <a:ext cx="3200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Stack real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2176272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139696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Python 3.11/3.12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569464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02752" y="2532888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PySpark + Spark 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962656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926079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Delta Lake + Unity Catalog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355848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02752" y="3319272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Databricks SDK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749039"/>
            <a:ext cx="228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00A972"/>
                </a:solidFill>
                <a:latin typeface="Aptos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2" y="3712463"/>
            <a:ext cx="269748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ptos"/>
              </a:rPr>
              <a:t>Automation Bundle · GitHub Actions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73568" y="4334256"/>
            <a:ext cx="32004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A972"/>
                </a:solidFill>
                <a:latin typeface="Aptos"/>
              </a:rPr>
              <a:t>Quality gates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773168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4736592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Ruff + Mypy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01000" y="5038344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5001768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Pytest: 29 passed · 92 % cobertura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5303520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5266944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Smoke test + integración opt-in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5568696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5532120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16 DQ + 8 SQL de smoke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5833872"/>
            <a:ext cx="228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>
                <a:solidFill>
                  <a:srgbClr val="00A972"/>
                </a:solidFill>
                <a:latin typeface="Aptos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5797296"/>
            <a:ext cx="278892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D9DFE5"/>
                </a:solidFill>
                <a:latin typeface="Aptos"/>
              </a:rPr>
              <a:t>Benchmark Genie: 5/5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Cómo reproducirlo por entorno Databricks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Mismo repositorio y bundle; cambian el target, los permisos y la autenticación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298448"/>
            <a:ext cx="5440680" cy="43708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9264" y="1600200"/>
            <a:ext cx="2267712" cy="365760"/>
          </a:xfrm>
          <a:prstGeom prst="roundRect">
            <a:avLst/>
          </a:prstGeom>
          <a:solidFill>
            <a:srgbClr val="00A972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1618488"/>
            <a:ext cx="2121408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DATABRICKS FREE EDITION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331720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dev · modo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80720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Compute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807208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exclusivamente serverless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282696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3282696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catalog workspace · schema aislado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758183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758183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warehouse existente · 2X-Small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233672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233672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OAuth U2M interactivo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0916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00A972"/>
                </a:solidFill>
                <a:latin typeface="Aptos"/>
              </a:rPr>
              <a:t>Uso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709160"/>
            <a:ext cx="35661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prueba individual sujeta a fair-use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298448"/>
            <a:ext cx="5166360" cy="43708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65976" y="1600200"/>
            <a:ext cx="2176272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9128" y="1618488"/>
            <a:ext cx="2029967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DATABRICKS 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93408" y="233172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2331720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enterprise · modo production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2807208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Compute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2807208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serverless recomendado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93408" y="3282696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Datos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3282696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catalog/schema corporativos autorizados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408" y="3758183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SQL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62672" y="3758183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warehouse Pro/Serverless con CAN 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3408" y="4233672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Auth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4233672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U2M local · M2M en CI/CD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3408" y="4709160"/>
            <a:ext cx="914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F39C4A"/>
                </a:solidFill>
                <a:latin typeface="Aptos"/>
              </a:rPr>
              <a:t>Gobierno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2672" y="4709160"/>
            <a:ext cx="336499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533"/>
                </a:solidFill>
                <a:latin typeface="Aptos"/>
              </a:rPr>
              <a:t>mínimo privilegio y permisos de bundle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97280" y="5696712"/>
            <a:ext cx="9966960" cy="438912"/>
          </a:xfrm>
          <a:prstGeom prst="roundRect">
            <a:avLst/>
          </a:prstGeom>
          <a:solidFill>
            <a:srgbClr val="1B2533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98448" y="5788152"/>
            <a:ext cx="9555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1 · CLONAR + UV SYNC   →   2 · AUTH + VARIABLES   →   3 · VALIDATE + DEPLOY + RUN   →   4 · GENIE + SMOKE TEST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6245352"/>
            <a:ext cx="9966960" cy="164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6B7785"/>
                </a:solidFill>
                <a:latin typeface="Aptos"/>
              </a:rPr>
              <a:t>Detalle reproducible: README.md · docs/deployment_runbook.md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B2533"/>
                </a:solidFill>
                <a:latin typeface="Aptos"/>
              </a:rPr>
              <a:t>Guía interna · recorrido recomendado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896112"/>
            <a:ext cx="1005840" cy="5486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83080" y="786384"/>
            <a:ext cx="9601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6B7785"/>
                </a:solidFill>
                <a:latin typeface="Aptos"/>
              </a:rPr>
              <a:t>Última diapositiva opcional; puede eliminarse antes de distribuir la versión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594360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6B7785"/>
                </a:solidFill>
                <a:latin typeface="Aptos"/>
              </a:rPr>
              <a:t>Datos exclusivamente sintéticos · Julio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510528"/>
            <a:ext cx="50292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900" b="0">
                <a:solidFill>
                  <a:srgbClr val="6B7785"/>
                </a:solidFill>
                <a:latin typeface="Aptos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493776"/>
            <a:ext cx="1325880" cy="365760"/>
          </a:xfrm>
          <a:prstGeom prst="roundRect">
            <a:avLst/>
          </a:prstGeom>
          <a:solidFill>
            <a:srgbClr val="F39C4A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40112" y="512064"/>
            <a:ext cx="11795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USO INTERNO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325880"/>
            <a:ext cx="2633472" cy="16276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53895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1453895"/>
            <a:ext cx="166420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Contexto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029967"/>
            <a:ext cx="224942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B7785"/>
                </a:solidFill>
                <a:latin typeface="Aptos"/>
              </a:rPr>
              <a:t>Explicar objetivo y datos sintéticos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8144" y="1325880"/>
            <a:ext cx="2633472" cy="16276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453895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376" y="1453895"/>
            <a:ext cx="166420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KPIs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029967"/>
            <a:ext cx="224942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B7785"/>
                </a:solidFill>
                <a:latin typeface="Aptos"/>
              </a:rPr>
              <a:t>Detectar desviación en Executive Overview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5936" y="1325880"/>
            <a:ext cx="2633472" cy="16276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53895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8" y="1453895"/>
            <a:ext cx="166420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Diagnóstico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029967"/>
            <a:ext cx="224942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B7785"/>
                </a:solidFill>
                <a:latin typeface="Aptos"/>
              </a:rPr>
              <a:t>Bajar a fiabilidad e instalaciones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53728" y="1325880"/>
            <a:ext cx="2633472" cy="16276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0032" y="1453895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453895"/>
            <a:ext cx="166420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Pregunta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029967"/>
            <a:ext cx="224942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B7785"/>
                </a:solidFill>
                <a:latin typeface="Aptos"/>
              </a:rPr>
              <a:t>Consultar los tres riesgos en Genie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3383280"/>
            <a:ext cx="2633472" cy="16276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" y="351129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43584" y="3511296"/>
            <a:ext cx="166420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Evidencia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4087368"/>
            <a:ext cx="224942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B7785"/>
                </a:solidFill>
                <a:latin typeface="Aptos"/>
              </a:rPr>
              <a:t>Mostrar SQL, tabla y gráfico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38144" y="3383280"/>
            <a:ext cx="2633472" cy="16276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1B25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84448" y="351129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51376" y="3511296"/>
            <a:ext cx="166420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Confianza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2736" y="4087368"/>
            <a:ext cx="224942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B7785"/>
                </a:solidFill>
                <a:latin typeface="Aptos"/>
              </a:rPr>
              <a:t>Abrir Benchmark 5/5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45936" y="3383280"/>
            <a:ext cx="2633472" cy="16276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00A9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51129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9168" y="3511296"/>
            <a:ext cx="166420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Escala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4087368"/>
            <a:ext cx="224942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B7785"/>
                </a:solidFill>
                <a:latin typeface="Aptos"/>
              </a:rPr>
              <a:t>Enseñar Genie One y compartir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53728" y="3383280"/>
            <a:ext cx="2633472" cy="1627632"/>
          </a:xfrm>
          <a:prstGeom prst="roundRect">
            <a:avLst/>
          </a:prstGeom>
          <a:solidFill>
            <a:srgbClr val="F5F7F9"/>
          </a:solidFill>
          <a:ln w="12700">
            <a:solidFill>
              <a:srgbClr val="F39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00032" y="3511296"/>
            <a:ext cx="47548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FF3621"/>
                </a:solidFill>
                <a:latin typeface="Aptos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511296"/>
            <a:ext cx="1664208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B2533"/>
                </a:solidFill>
                <a:latin typeface="Aptos"/>
              </a:rPr>
              <a:t>Acción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087368"/>
            <a:ext cx="2249424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6B7785"/>
                </a:solidFill>
                <a:latin typeface="Aptos"/>
              </a:rPr>
              <a:t>Proponer App como siguiente paso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34440" y="5696712"/>
            <a:ext cx="97383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3621"/>
                </a:solidFill>
                <a:latin typeface="Aptos"/>
              </a:rPr>
              <a:t>ELIMINAR ESTA DIAPOSITIVA ANTES DE DISTRIBUIR LA VERSIÓN FINAL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Inteligencia operativa para energía renovable con Databricks Genie</dc:title>
  <dc:subject>Prueba de viabilidad de AI/BI Dashboard, Genie Agent y Genie One</dc:subject>
  <dc:creator>GreenGrid Energy demo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